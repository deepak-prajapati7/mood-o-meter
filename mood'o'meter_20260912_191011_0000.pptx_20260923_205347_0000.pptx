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Kingred Modern" charset="1" panose="00000000000000000000"/>
      <p:regular r:id="rId25"/>
    </p:embeddedFont>
    <p:embeddedFont>
      <p:font typeface="Canva Sans 1 Bold" charset="1" panose="020B0803030501040103"/>
      <p:regular r:id="rId26"/>
    </p:embeddedFont>
    <p:embeddedFont>
      <p:font typeface="Canva Sans 1" charset="1" panose="020B0503030501040103"/>
      <p:regular r:id="rId27"/>
    </p:embeddedFont>
    <p:embeddedFont>
      <p:font typeface="Helvetica World" charset="1" panose="020B0500040000020004"/>
      <p:regular r:id="rId28"/>
    </p:embeddedFont>
    <p:embeddedFont>
      <p:font typeface="Helvetica World Bold" charset="1" panose="020B0800040000020004"/>
      <p:regular r:id="rId29"/>
    </p:embeddedFont>
    <p:embeddedFont>
      <p:font typeface="Canva Sans 2 Bold" charset="1" panose="020B0803030501040103"/>
      <p:regular r:id="rId30"/>
    </p:embeddedFont>
    <p:embeddedFont>
      <p:font typeface="Canva Sans 2" charset="1" panose="020B0503030501040103"/>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8.png" Type="http://schemas.openxmlformats.org/officeDocument/2006/relationships/image"/><Relationship Id="rId7" Target="../media/image4.png" Type="http://schemas.openxmlformats.org/officeDocument/2006/relationships/image"/><Relationship Id="rId8" Target="../media/image9.png" Type="http://schemas.openxmlformats.org/officeDocument/2006/relationships/image"/><Relationship Id="rId9"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png" Type="http://schemas.openxmlformats.org/officeDocument/2006/relationships/image"/><Relationship Id="rId4" Target="../media/image9.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2.png" Type="http://schemas.openxmlformats.org/officeDocument/2006/relationships/image"/><Relationship Id="rId9"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9.png" Type="http://schemas.openxmlformats.org/officeDocument/2006/relationships/image"/><Relationship Id="rId6" Target="../media/image8.png" Type="http://schemas.openxmlformats.org/officeDocument/2006/relationships/image"/><Relationship Id="rId7" Target="../media/image4.png" Type="http://schemas.openxmlformats.org/officeDocument/2006/relationships/image"/><Relationship Id="rId8" Target="../media/image2.png" Type="http://schemas.openxmlformats.org/officeDocument/2006/relationships/image"/><Relationship Id="rId9" Target="../media/image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8.png" Type="http://schemas.openxmlformats.org/officeDocument/2006/relationships/image"/><Relationship Id="rId5" Target="../media/image4.png" Type="http://schemas.openxmlformats.org/officeDocument/2006/relationships/image"/><Relationship Id="rId6" Target="../media/image9.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png" Type="http://schemas.openxmlformats.org/officeDocument/2006/relationships/image"/><Relationship Id="rId4" Target="../media/image2.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4.png" Type="http://schemas.openxmlformats.org/officeDocument/2006/relationships/image"/><Relationship Id="rId8"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9.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0" t="0" r="-60" b="0"/>
            </a:stretch>
          </a:blipFill>
        </p:spPr>
      </p:sp>
      <p:grpSp>
        <p:nvGrpSpPr>
          <p:cNvPr name="Group 3" id="3"/>
          <p:cNvGrpSpPr/>
          <p:nvPr/>
        </p:nvGrpSpPr>
        <p:grpSpPr>
          <a:xfrm rot="-5400000">
            <a:off x="12802905" y="9019222"/>
            <a:ext cx="3465424" cy="3943588"/>
            <a:chOff x="0" y="0"/>
            <a:chExt cx="4620565" cy="5258118"/>
          </a:xfrm>
        </p:grpSpPr>
        <p:sp>
          <p:nvSpPr>
            <p:cNvPr name="Freeform 4" id="4"/>
            <p:cNvSpPr/>
            <p:nvPr/>
          </p:nvSpPr>
          <p:spPr>
            <a:xfrm flipH="false" flipV="false" rot="0">
              <a:off x="0" y="0"/>
              <a:ext cx="4620514" cy="5258054"/>
            </a:xfrm>
            <a:custGeom>
              <a:avLst/>
              <a:gdLst/>
              <a:ahLst/>
              <a:cxnLst/>
              <a:rect r="r" b="b" t="t" l="l"/>
              <a:pathLst>
                <a:path h="5258054" w="4620514">
                  <a:moveTo>
                    <a:pt x="0" y="0"/>
                  </a:moveTo>
                  <a:lnTo>
                    <a:pt x="4620514" y="0"/>
                  </a:lnTo>
                  <a:lnTo>
                    <a:pt x="4620514" y="5258054"/>
                  </a:lnTo>
                  <a:lnTo>
                    <a:pt x="0" y="5258054"/>
                  </a:lnTo>
                  <a:lnTo>
                    <a:pt x="0" y="0"/>
                  </a:lnTo>
                  <a:close/>
                </a:path>
              </a:pathLst>
            </a:custGeom>
            <a:blipFill>
              <a:blip r:embed="rId3"/>
              <a:stretch>
                <a:fillRect l="-25" t="0" r="-26" b="-1"/>
              </a:stretch>
            </a:blipFill>
          </p:spPr>
        </p:sp>
      </p:grpSp>
      <p:grpSp>
        <p:nvGrpSpPr>
          <p:cNvPr name="Group 5" id="5"/>
          <p:cNvGrpSpPr/>
          <p:nvPr/>
        </p:nvGrpSpPr>
        <p:grpSpPr>
          <a:xfrm rot="735120">
            <a:off x="17012793" y="5558495"/>
            <a:ext cx="2550424" cy="2355952"/>
            <a:chOff x="0" y="0"/>
            <a:chExt cx="3400565" cy="3141269"/>
          </a:xfrm>
        </p:grpSpPr>
        <p:sp>
          <p:nvSpPr>
            <p:cNvPr name="Freeform 6" id="6"/>
            <p:cNvSpPr/>
            <p:nvPr/>
          </p:nvSpPr>
          <p:spPr>
            <a:xfrm flipH="false" flipV="false" rot="0">
              <a:off x="0" y="0"/>
              <a:ext cx="3400552" cy="3141218"/>
            </a:xfrm>
            <a:custGeom>
              <a:avLst/>
              <a:gdLst/>
              <a:ahLst/>
              <a:cxnLst/>
              <a:rect r="r" b="b" t="t" l="l"/>
              <a:pathLst>
                <a:path h="3141218" w="3400552">
                  <a:moveTo>
                    <a:pt x="0" y="0"/>
                  </a:moveTo>
                  <a:lnTo>
                    <a:pt x="3400552" y="0"/>
                  </a:lnTo>
                  <a:lnTo>
                    <a:pt x="3400552" y="3141218"/>
                  </a:lnTo>
                  <a:lnTo>
                    <a:pt x="0" y="3141218"/>
                  </a:lnTo>
                  <a:lnTo>
                    <a:pt x="0" y="0"/>
                  </a:lnTo>
                  <a:close/>
                </a:path>
              </a:pathLst>
            </a:custGeom>
            <a:blipFill>
              <a:blip r:embed="rId4"/>
              <a:stretch>
                <a:fillRect l="-22" t="0" r="-23" b="-1"/>
              </a:stretch>
            </a:blipFill>
          </p:spPr>
        </p:sp>
      </p:grpSp>
      <p:grpSp>
        <p:nvGrpSpPr>
          <p:cNvPr name="Group 7" id="7"/>
          <p:cNvGrpSpPr/>
          <p:nvPr/>
        </p:nvGrpSpPr>
        <p:grpSpPr>
          <a:xfrm rot="2700000">
            <a:off x="-367503" y="-2305345"/>
            <a:ext cx="1826990" cy="4610691"/>
            <a:chOff x="0" y="0"/>
            <a:chExt cx="2435987" cy="6147587"/>
          </a:xfrm>
        </p:grpSpPr>
        <p:sp>
          <p:nvSpPr>
            <p:cNvPr name="Freeform 8" id="8"/>
            <p:cNvSpPr/>
            <p:nvPr/>
          </p:nvSpPr>
          <p:spPr>
            <a:xfrm flipH="true" flipV="false" rot="0">
              <a:off x="0" y="0"/>
              <a:ext cx="2435987" cy="6147562"/>
            </a:xfrm>
            <a:custGeom>
              <a:avLst/>
              <a:gdLst/>
              <a:ahLst/>
              <a:cxnLst/>
              <a:rect r="r" b="b" t="t" l="l"/>
              <a:pathLst>
                <a:path h="6147562" w="2435987">
                  <a:moveTo>
                    <a:pt x="2435987" y="0"/>
                  </a:moveTo>
                  <a:lnTo>
                    <a:pt x="0" y="0"/>
                  </a:lnTo>
                  <a:lnTo>
                    <a:pt x="0" y="6147562"/>
                  </a:lnTo>
                  <a:lnTo>
                    <a:pt x="2435987" y="6147562"/>
                  </a:lnTo>
                  <a:lnTo>
                    <a:pt x="2435987" y="0"/>
                  </a:lnTo>
                  <a:close/>
                </a:path>
              </a:pathLst>
            </a:custGeom>
            <a:blipFill>
              <a:blip r:embed="rId5"/>
              <a:stretch>
                <a:fillRect l="-29" t="0" r="-29" b="0"/>
              </a:stretch>
            </a:blipFill>
          </p:spPr>
        </p:sp>
      </p:grpSp>
      <p:grpSp>
        <p:nvGrpSpPr>
          <p:cNvPr name="Group 9" id="9"/>
          <p:cNvGrpSpPr/>
          <p:nvPr/>
        </p:nvGrpSpPr>
        <p:grpSpPr>
          <a:xfrm rot="0">
            <a:off x="11233909" y="-4481198"/>
            <a:ext cx="8550231" cy="8229600"/>
            <a:chOff x="0" y="0"/>
            <a:chExt cx="11400307" cy="10972800"/>
          </a:xfrm>
        </p:grpSpPr>
        <p:sp>
          <p:nvSpPr>
            <p:cNvPr name="Freeform 10" id="10"/>
            <p:cNvSpPr/>
            <p:nvPr/>
          </p:nvSpPr>
          <p:spPr>
            <a:xfrm flipH="false" flipV="false" rot="0">
              <a:off x="0" y="0"/>
              <a:ext cx="11400282" cy="10972800"/>
            </a:xfrm>
            <a:custGeom>
              <a:avLst/>
              <a:gdLst/>
              <a:ahLst/>
              <a:cxnLst/>
              <a:rect r="r" b="b" t="t" l="l"/>
              <a:pathLst>
                <a:path h="10972800" w="11400282">
                  <a:moveTo>
                    <a:pt x="0" y="0"/>
                  </a:moveTo>
                  <a:lnTo>
                    <a:pt x="11400282" y="0"/>
                  </a:lnTo>
                  <a:lnTo>
                    <a:pt x="11400282" y="10972800"/>
                  </a:lnTo>
                  <a:lnTo>
                    <a:pt x="0" y="10972800"/>
                  </a:lnTo>
                  <a:lnTo>
                    <a:pt x="0" y="0"/>
                  </a:lnTo>
                  <a:close/>
                </a:path>
              </a:pathLst>
            </a:custGeom>
            <a:blipFill>
              <a:blip r:embed="rId6"/>
              <a:stretch>
                <a:fillRect l="0" t="-18" r="0" b="-18"/>
              </a:stretch>
            </a:blipFill>
          </p:spPr>
        </p:sp>
      </p:grpSp>
      <p:grpSp>
        <p:nvGrpSpPr>
          <p:cNvPr name="Group 11" id="11"/>
          <p:cNvGrpSpPr/>
          <p:nvPr/>
        </p:nvGrpSpPr>
        <p:grpSpPr>
          <a:xfrm rot="0">
            <a:off x="-3054725" y="7063235"/>
            <a:ext cx="8550231" cy="8229600"/>
            <a:chOff x="0" y="0"/>
            <a:chExt cx="11400307" cy="10972800"/>
          </a:xfrm>
        </p:grpSpPr>
        <p:sp>
          <p:nvSpPr>
            <p:cNvPr name="Freeform 12" id="12"/>
            <p:cNvSpPr/>
            <p:nvPr/>
          </p:nvSpPr>
          <p:spPr>
            <a:xfrm flipH="false" flipV="false" rot="0">
              <a:off x="0" y="0"/>
              <a:ext cx="11400282" cy="10972800"/>
            </a:xfrm>
            <a:custGeom>
              <a:avLst/>
              <a:gdLst/>
              <a:ahLst/>
              <a:cxnLst/>
              <a:rect r="r" b="b" t="t" l="l"/>
              <a:pathLst>
                <a:path h="10972800" w="11400282">
                  <a:moveTo>
                    <a:pt x="0" y="0"/>
                  </a:moveTo>
                  <a:lnTo>
                    <a:pt x="11400282" y="0"/>
                  </a:lnTo>
                  <a:lnTo>
                    <a:pt x="11400282" y="10972800"/>
                  </a:lnTo>
                  <a:lnTo>
                    <a:pt x="0" y="10972800"/>
                  </a:lnTo>
                  <a:lnTo>
                    <a:pt x="0" y="0"/>
                  </a:lnTo>
                  <a:close/>
                </a:path>
              </a:pathLst>
            </a:custGeom>
            <a:blipFill>
              <a:blip r:embed="rId6"/>
              <a:stretch>
                <a:fillRect l="0" t="-18" r="0" b="-18"/>
              </a:stretch>
            </a:blipFill>
          </p:spPr>
        </p:sp>
      </p:grpSp>
      <p:grpSp>
        <p:nvGrpSpPr>
          <p:cNvPr name="Group 13" id="13"/>
          <p:cNvGrpSpPr/>
          <p:nvPr/>
        </p:nvGrpSpPr>
        <p:grpSpPr>
          <a:xfrm rot="0">
            <a:off x="-256765" y="7383999"/>
            <a:ext cx="3651885" cy="8229600"/>
            <a:chOff x="0" y="0"/>
            <a:chExt cx="4869180" cy="10972800"/>
          </a:xfrm>
        </p:grpSpPr>
        <p:sp>
          <p:nvSpPr>
            <p:cNvPr name="Freeform 14" id="14"/>
            <p:cNvSpPr/>
            <p:nvPr/>
          </p:nvSpPr>
          <p:spPr>
            <a:xfrm flipH="false" flipV="false" rot="0">
              <a:off x="0" y="0"/>
              <a:ext cx="4869180" cy="10972800"/>
            </a:xfrm>
            <a:custGeom>
              <a:avLst/>
              <a:gdLst/>
              <a:ahLst/>
              <a:cxnLst/>
              <a:rect r="r" b="b" t="t" l="l"/>
              <a:pathLst>
                <a:path h="10972800" w="4869180">
                  <a:moveTo>
                    <a:pt x="0" y="0"/>
                  </a:moveTo>
                  <a:lnTo>
                    <a:pt x="4869180" y="0"/>
                  </a:lnTo>
                  <a:lnTo>
                    <a:pt x="4869180" y="10972800"/>
                  </a:lnTo>
                  <a:lnTo>
                    <a:pt x="0" y="10972800"/>
                  </a:lnTo>
                  <a:lnTo>
                    <a:pt x="0" y="0"/>
                  </a:lnTo>
                  <a:close/>
                </a:path>
              </a:pathLst>
            </a:custGeom>
            <a:blipFill>
              <a:blip r:embed="rId7"/>
              <a:stretch>
                <a:fillRect l="-113" t="0" r="-113" b="0"/>
              </a:stretch>
            </a:blipFill>
          </p:spPr>
        </p:sp>
      </p:grpSp>
      <p:grpSp>
        <p:nvGrpSpPr>
          <p:cNvPr name="Group 15" id="15"/>
          <p:cNvGrpSpPr/>
          <p:nvPr/>
        </p:nvGrpSpPr>
        <p:grpSpPr>
          <a:xfrm rot="0">
            <a:off x="14301626" y="-5072243"/>
            <a:ext cx="3651885" cy="8229600"/>
            <a:chOff x="0" y="0"/>
            <a:chExt cx="4869180" cy="10972800"/>
          </a:xfrm>
        </p:grpSpPr>
        <p:sp>
          <p:nvSpPr>
            <p:cNvPr name="Freeform 16" id="16"/>
            <p:cNvSpPr/>
            <p:nvPr/>
          </p:nvSpPr>
          <p:spPr>
            <a:xfrm flipH="false" flipV="true" rot="0">
              <a:off x="0" y="0"/>
              <a:ext cx="4869180" cy="10972800"/>
            </a:xfrm>
            <a:custGeom>
              <a:avLst/>
              <a:gdLst/>
              <a:ahLst/>
              <a:cxnLst/>
              <a:rect r="r" b="b" t="t" l="l"/>
              <a:pathLst>
                <a:path h="10972800" w="4869180">
                  <a:moveTo>
                    <a:pt x="0" y="10972800"/>
                  </a:moveTo>
                  <a:lnTo>
                    <a:pt x="4869180" y="10972800"/>
                  </a:lnTo>
                  <a:lnTo>
                    <a:pt x="4869180" y="0"/>
                  </a:lnTo>
                  <a:lnTo>
                    <a:pt x="0" y="0"/>
                  </a:lnTo>
                  <a:lnTo>
                    <a:pt x="0" y="10972800"/>
                  </a:lnTo>
                  <a:close/>
                </a:path>
              </a:pathLst>
            </a:custGeom>
            <a:blipFill>
              <a:blip r:embed="rId7"/>
              <a:stretch>
                <a:fillRect l="-113" t="0" r="-113"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8F1"/>
        </a:solidFill>
      </p:bgPr>
    </p:bg>
    <p:spTree>
      <p:nvGrpSpPr>
        <p:cNvPr id="1" name=""/>
        <p:cNvGrpSpPr/>
        <p:nvPr/>
      </p:nvGrpSpPr>
      <p:grpSpPr>
        <a:xfrm>
          <a:off x="0" y="0"/>
          <a:ext cx="0" cy="0"/>
          <a:chOff x="0" y="0"/>
          <a:chExt cx="0" cy="0"/>
        </a:xfrm>
      </p:grpSpPr>
      <p:grpSp>
        <p:nvGrpSpPr>
          <p:cNvPr name="Group 2" id="2"/>
          <p:cNvGrpSpPr/>
          <p:nvPr/>
        </p:nvGrpSpPr>
        <p:grpSpPr>
          <a:xfrm rot="0">
            <a:off x="0" y="1537754"/>
            <a:ext cx="18288000" cy="8749246"/>
            <a:chOff x="0" y="0"/>
            <a:chExt cx="24384000" cy="11665661"/>
          </a:xfrm>
        </p:grpSpPr>
        <p:sp>
          <p:nvSpPr>
            <p:cNvPr name="Freeform 3" id="3"/>
            <p:cNvSpPr/>
            <p:nvPr/>
          </p:nvSpPr>
          <p:spPr>
            <a:xfrm flipH="false" flipV="false" rot="0">
              <a:off x="0" y="0"/>
              <a:ext cx="24384000" cy="11665712"/>
            </a:xfrm>
            <a:custGeom>
              <a:avLst/>
              <a:gdLst/>
              <a:ahLst/>
              <a:cxnLst/>
              <a:rect r="r" b="b" t="t" l="l"/>
              <a:pathLst>
                <a:path h="11665712" w="24384000">
                  <a:moveTo>
                    <a:pt x="0" y="0"/>
                  </a:moveTo>
                  <a:lnTo>
                    <a:pt x="24384000" y="0"/>
                  </a:lnTo>
                  <a:lnTo>
                    <a:pt x="24384000" y="11665712"/>
                  </a:lnTo>
                  <a:lnTo>
                    <a:pt x="0" y="11665712"/>
                  </a:lnTo>
                  <a:lnTo>
                    <a:pt x="0" y="0"/>
                  </a:lnTo>
                  <a:close/>
                </a:path>
              </a:pathLst>
            </a:custGeom>
            <a:blipFill>
              <a:blip r:embed="rId2"/>
              <a:stretch>
                <a:fillRect l="0" t="-54511" r="0" b="-54511"/>
              </a:stretch>
            </a:blipFill>
          </p:spPr>
        </p:sp>
      </p:grpSp>
      <p:grpSp>
        <p:nvGrpSpPr>
          <p:cNvPr name="Group 4" id="4"/>
          <p:cNvGrpSpPr/>
          <p:nvPr/>
        </p:nvGrpSpPr>
        <p:grpSpPr>
          <a:xfrm rot="-5400000">
            <a:off x="13683463" y="92583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5996333" y="84428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210084" y="63592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435360" y="7791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1012974" y="-17948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055256" y="-29802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2897250" y="-41513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956979" y="7717346"/>
            <a:ext cx="7467514" cy="7187489"/>
            <a:chOff x="0" y="0"/>
            <a:chExt cx="9956686" cy="9583318"/>
          </a:xfrm>
        </p:grpSpPr>
        <p:sp>
          <p:nvSpPr>
            <p:cNvPr name="Freeform 19" id="19"/>
            <p:cNvSpPr/>
            <p:nvPr/>
          </p:nvSpPr>
          <p:spPr>
            <a:xfrm flipH="false" flipV="false" rot="0">
              <a:off x="0" y="0"/>
              <a:ext cx="9956673" cy="9583293"/>
            </a:xfrm>
            <a:custGeom>
              <a:avLst/>
              <a:gdLst/>
              <a:ahLst/>
              <a:cxnLst/>
              <a:rect r="r" b="b" t="t" l="l"/>
              <a:pathLst>
                <a:path h="9583293" w="9956673">
                  <a:moveTo>
                    <a:pt x="0" y="0"/>
                  </a:moveTo>
                  <a:lnTo>
                    <a:pt x="9956673" y="0"/>
                  </a:lnTo>
                  <a:lnTo>
                    <a:pt x="9956673" y="9583293"/>
                  </a:lnTo>
                  <a:lnTo>
                    <a:pt x="0" y="9583293"/>
                  </a:lnTo>
                  <a:lnTo>
                    <a:pt x="0" y="0"/>
                  </a:lnTo>
                  <a:close/>
                </a:path>
              </a:pathLst>
            </a:custGeom>
            <a:blipFill>
              <a:blip r:embed="rId8"/>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grpSp>
        <p:nvGrpSpPr>
          <p:cNvPr name="Group 22" id="22"/>
          <p:cNvGrpSpPr/>
          <p:nvPr/>
        </p:nvGrpSpPr>
        <p:grpSpPr>
          <a:xfrm rot="0">
            <a:off x="15487812" y="-4650419"/>
            <a:ext cx="3083862" cy="6949554"/>
            <a:chOff x="0" y="0"/>
            <a:chExt cx="4111816" cy="9266072"/>
          </a:xfrm>
        </p:grpSpPr>
        <p:sp>
          <p:nvSpPr>
            <p:cNvPr name="Freeform 23" id="23"/>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9"/>
              <a:stretch>
                <a:fillRect l="-113" t="0" r="-112" b="0"/>
              </a:stretch>
            </a:blipFill>
          </p:spPr>
        </p:sp>
      </p:grpSp>
      <p:sp>
        <p:nvSpPr>
          <p:cNvPr name="TextBox 24" id="24"/>
          <p:cNvSpPr txBox="true"/>
          <p:nvPr/>
        </p:nvSpPr>
        <p:spPr>
          <a:xfrm rot="0">
            <a:off x="3445964" y="1849984"/>
            <a:ext cx="11234709" cy="1933775"/>
          </a:xfrm>
          <a:prstGeom prst="rect">
            <a:avLst/>
          </a:prstGeom>
        </p:spPr>
        <p:txBody>
          <a:bodyPr anchor="t" rtlCol="false" tIns="0" lIns="0" bIns="0" rIns="0">
            <a:spAutoFit/>
          </a:bodyPr>
          <a:lstStyle/>
          <a:p>
            <a:pPr algn="ctr">
              <a:lnSpc>
                <a:spcPts val="13972"/>
              </a:lnSpc>
            </a:pPr>
            <a:r>
              <a:rPr lang="en-US" sz="9980">
                <a:solidFill>
                  <a:srgbClr val="6E4823"/>
                </a:solidFill>
                <a:latin typeface="Kingred Modern"/>
                <a:ea typeface="Kingred Modern"/>
                <a:cs typeface="Kingred Modern"/>
                <a:sym typeface="Kingred Modern"/>
              </a:rPr>
              <a:t>MOOD'O'METER</a:t>
            </a:r>
          </a:p>
        </p:txBody>
      </p:sp>
      <p:sp>
        <p:nvSpPr>
          <p:cNvPr name="TextBox 25" id="25"/>
          <p:cNvSpPr txBox="true"/>
          <p:nvPr/>
        </p:nvSpPr>
        <p:spPr>
          <a:xfrm rot="0">
            <a:off x="-283674" y="3943017"/>
            <a:ext cx="18855347" cy="982342"/>
          </a:xfrm>
          <a:prstGeom prst="rect">
            <a:avLst/>
          </a:prstGeom>
        </p:spPr>
        <p:txBody>
          <a:bodyPr anchor="t" rtlCol="false" tIns="0" lIns="0" bIns="0" rIns="0">
            <a:spAutoFit/>
          </a:bodyPr>
          <a:lstStyle/>
          <a:p>
            <a:pPr algn="ctr">
              <a:lnSpc>
                <a:spcPts val="7279"/>
              </a:lnSpc>
            </a:pPr>
            <a:r>
              <a:rPr lang="en-US" sz="5198" b="true">
                <a:solidFill>
                  <a:srgbClr val="6E4823"/>
                </a:solidFill>
                <a:latin typeface="Canva Sans 1 Bold"/>
                <a:ea typeface="Canva Sans 1 Bold"/>
                <a:cs typeface="Canva Sans 1 Bold"/>
                <a:sym typeface="Canva Sans 1 Bold"/>
              </a:rPr>
              <a:t>An AI supported , Human-led campus wellness system.</a:t>
            </a:r>
          </a:p>
        </p:txBody>
      </p:sp>
      <p:sp>
        <p:nvSpPr>
          <p:cNvPr name="TextBox 26" id="26"/>
          <p:cNvSpPr txBox="true"/>
          <p:nvPr/>
        </p:nvSpPr>
        <p:spPr>
          <a:xfrm rot="0">
            <a:off x="0" y="5658793"/>
            <a:ext cx="17647282" cy="2965552"/>
          </a:xfrm>
          <a:prstGeom prst="rect">
            <a:avLst/>
          </a:prstGeom>
        </p:spPr>
        <p:txBody>
          <a:bodyPr anchor="t" rtlCol="false" tIns="0" lIns="0" bIns="0" rIns="0">
            <a:spAutoFit/>
          </a:bodyPr>
          <a:lstStyle/>
          <a:p>
            <a:pPr algn="ctr">
              <a:lnSpc>
                <a:spcPts val="7693"/>
              </a:lnSpc>
            </a:pPr>
            <a:r>
              <a:rPr lang="en-US" sz="5495" b="true">
                <a:solidFill>
                  <a:srgbClr val="6E4823"/>
                </a:solidFill>
                <a:latin typeface="Canva Sans 1 Bold"/>
                <a:ea typeface="Canva Sans 1 Bold"/>
                <a:cs typeface="Canva Sans 1 Bold"/>
                <a:sym typeface="Canva Sans 1 Bold"/>
              </a:rPr>
              <a:t>An early-warning and connection system, helping students reach professional support before their problems become severe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8F1"/>
        </a:solidFill>
      </p:bgPr>
    </p:bg>
    <p:spTree>
      <p:nvGrpSpPr>
        <p:cNvPr id="1" name=""/>
        <p:cNvGrpSpPr/>
        <p:nvPr/>
      </p:nvGrpSpPr>
      <p:grpSpPr>
        <a:xfrm>
          <a:off x="0" y="0"/>
          <a:ext cx="0" cy="0"/>
          <a:chOff x="0" y="0"/>
          <a:chExt cx="0" cy="0"/>
        </a:xfrm>
      </p:grpSpPr>
      <p:grpSp>
        <p:nvGrpSpPr>
          <p:cNvPr name="Group 2" id="2"/>
          <p:cNvGrpSpPr/>
          <p:nvPr/>
        </p:nvGrpSpPr>
        <p:grpSpPr>
          <a:xfrm rot="0">
            <a:off x="0" y="1537754"/>
            <a:ext cx="18288000" cy="8749246"/>
            <a:chOff x="0" y="0"/>
            <a:chExt cx="24384000" cy="11665661"/>
          </a:xfrm>
        </p:grpSpPr>
        <p:sp>
          <p:nvSpPr>
            <p:cNvPr name="Freeform 3" id="3"/>
            <p:cNvSpPr/>
            <p:nvPr/>
          </p:nvSpPr>
          <p:spPr>
            <a:xfrm flipH="false" flipV="false" rot="0">
              <a:off x="0" y="0"/>
              <a:ext cx="24384000" cy="11665712"/>
            </a:xfrm>
            <a:custGeom>
              <a:avLst/>
              <a:gdLst/>
              <a:ahLst/>
              <a:cxnLst/>
              <a:rect r="r" b="b" t="t" l="l"/>
              <a:pathLst>
                <a:path h="11665712" w="24384000">
                  <a:moveTo>
                    <a:pt x="0" y="0"/>
                  </a:moveTo>
                  <a:lnTo>
                    <a:pt x="24384000" y="0"/>
                  </a:lnTo>
                  <a:lnTo>
                    <a:pt x="24384000" y="11665712"/>
                  </a:lnTo>
                  <a:lnTo>
                    <a:pt x="0" y="11665712"/>
                  </a:lnTo>
                  <a:lnTo>
                    <a:pt x="0" y="0"/>
                  </a:lnTo>
                  <a:close/>
                </a:path>
              </a:pathLst>
            </a:custGeom>
            <a:blipFill>
              <a:blip r:embed="rId2"/>
              <a:stretch>
                <a:fillRect l="0" t="-54511" r="0" b="-54511"/>
              </a:stretch>
            </a:blipFill>
          </p:spPr>
        </p:sp>
      </p:grpSp>
      <p:grpSp>
        <p:nvGrpSpPr>
          <p:cNvPr name="Group 4" id="4"/>
          <p:cNvGrpSpPr/>
          <p:nvPr/>
        </p:nvGrpSpPr>
        <p:grpSpPr>
          <a:xfrm rot="-5400000">
            <a:off x="13683463" y="92583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5996333" y="84428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210084" y="63592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435360" y="7791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1012974" y="-17948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055256" y="-29802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2897250" y="-41513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956979" y="7717346"/>
            <a:ext cx="7467514" cy="7187489"/>
            <a:chOff x="0" y="0"/>
            <a:chExt cx="9956686" cy="9583318"/>
          </a:xfrm>
        </p:grpSpPr>
        <p:sp>
          <p:nvSpPr>
            <p:cNvPr name="Freeform 19" id="19"/>
            <p:cNvSpPr/>
            <p:nvPr/>
          </p:nvSpPr>
          <p:spPr>
            <a:xfrm flipH="false" flipV="false" rot="0">
              <a:off x="0" y="0"/>
              <a:ext cx="9956673" cy="9583293"/>
            </a:xfrm>
            <a:custGeom>
              <a:avLst/>
              <a:gdLst/>
              <a:ahLst/>
              <a:cxnLst/>
              <a:rect r="r" b="b" t="t" l="l"/>
              <a:pathLst>
                <a:path h="9583293" w="9956673">
                  <a:moveTo>
                    <a:pt x="0" y="0"/>
                  </a:moveTo>
                  <a:lnTo>
                    <a:pt x="9956673" y="0"/>
                  </a:lnTo>
                  <a:lnTo>
                    <a:pt x="9956673" y="9583293"/>
                  </a:lnTo>
                  <a:lnTo>
                    <a:pt x="0" y="9583293"/>
                  </a:lnTo>
                  <a:lnTo>
                    <a:pt x="0" y="0"/>
                  </a:lnTo>
                  <a:close/>
                </a:path>
              </a:pathLst>
            </a:custGeom>
            <a:blipFill>
              <a:blip r:embed="rId8"/>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grpSp>
        <p:nvGrpSpPr>
          <p:cNvPr name="Group 22" id="22"/>
          <p:cNvGrpSpPr/>
          <p:nvPr/>
        </p:nvGrpSpPr>
        <p:grpSpPr>
          <a:xfrm rot="0">
            <a:off x="15487812" y="-4650419"/>
            <a:ext cx="3083862" cy="6949554"/>
            <a:chOff x="0" y="0"/>
            <a:chExt cx="4111816" cy="9266072"/>
          </a:xfrm>
        </p:grpSpPr>
        <p:sp>
          <p:nvSpPr>
            <p:cNvPr name="Freeform 23" id="23"/>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9"/>
              <a:stretch>
                <a:fillRect l="-113" t="0" r="-112" b="0"/>
              </a:stretch>
            </a:blipFill>
          </p:spPr>
        </p:sp>
      </p:grpSp>
      <p:sp>
        <p:nvSpPr>
          <p:cNvPr name="TextBox 24" id="24"/>
          <p:cNvSpPr txBox="true"/>
          <p:nvPr/>
        </p:nvSpPr>
        <p:spPr>
          <a:xfrm rot="0">
            <a:off x="3445964" y="1849984"/>
            <a:ext cx="11234709" cy="1933775"/>
          </a:xfrm>
          <a:prstGeom prst="rect">
            <a:avLst/>
          </a:prstGeom>
        </p:spPr>
        <p:txBody>
          <a:bodyPr anchor="t" rtlCol="false" tIns="0" lIns="0" bIns="0" rIns="0">
            <a:spAutoFit/>
          </a:bodyPr>
          <a:lstStyle/>
          <a:p>
            <a:pPr algn="ctr">
              <a:lnSpc>
                <a:spcPts val="13972"/>
              </a:lnSpc>
            </a:pPr>
            <a:r>
              <a:rPr lang="en-US" sz="9980">
                <a:solidFill>
                  <a:srgbClr val="6E4823"/>
                </a:solidFill>
                <a:latin typeface="Kingred Modern"/>
                <a:ea typeface="Kingred Modern"/>
                <a:cs typeface="Kingred Modern"/>
                <a:sym typeface="Kingred Modern"/>
              </a:rPr>
              <a:t>MOOD'O'METER</a:t>
            </a:r>
          </a:p>
        </p:txBody>
      </p:sp>
      <p:sp>
        <p:nvSpPr>
          <p:cNvPr name="TextBox 25" id="25"/>
          <p:cNvSpPr txBox="true"/>
          <p:nvPr/>
        </p:nvSpPr>
        <p:spPr>
          <a:xfrm rot="0">
            <a:off x="-283674" y="3943017"/>
            <a:ext cx="18855347" cy="982342"/>
          </a:xfrm>
          <a:prstGeom prst="rect">
            <a:avLst/>
          </a:prstGeom>
        </p:spPr>
        <p:txBody>
          <a:bodyPr anchor="t" rtlCol="false" tIns="0" lIns="0" bIns="0" rIns="0">
            <a:spAutoFit/>
          </a:bodyPr>
          <a:lstStyle/>
          <a:p>
            <a:pPr algn="ctr">
              <a:lnSpc>
                <a:spcPts val="7279"/>
              </a:lnSpc>
            </a:pPr>
            <a:r>
              <a:rPr lang="en-US" sz="5198" b="true">
                <a:solidFill>
                  <a:srgbClr val="6E4823"/>
                </a:solidFill>
                <a:latin typeface="Canva Sans 1 Bold"/>
                <a:ea typeface="Canva Sans 1 Bold"/>
                <a:cs typeface="Canva Sans 1 Bold"/>
                <a:sym typeface="Canva Sans 1 Bold"/>
              </a:rPr>
              <a:t>An AI supported , Human-led campus wellness system.</a:t>
            </a:r>
          </a:p>
        </p:txBody>
      </p:sp>
      <p:sp>
        <p:nvSpPr>
          <p:cNvPr name="TextBox 26" id="26"/>
          <p:cNvSpPr txBox="true"/>
          <p:nvPr/>
        </p:nvSpPr>
        <p:spPr>
          <a:xfrm rot="0">
            <a:off x="0" y="5658793"/>
            <a:ext cx="17647282" cy="2965552"/>
          </a:xfrm>
          <a:prstGeom prst="rect">
            <a:avLst/>
          </a:prstGeom>
        </p:spPr>
        <p:txBody>
          <a:bodyPr anchor="t" rtlCol="false" tIns="0" lIns="0" bIns="0" rIns="0">
            <a:spAutoFit/>
          </a:bodyPr>
          <a:lstStyle/>
          <a:p>
            <a:pPr algn="ctr">
              <a:lnSpc>
                <a:spcPts val="7693"/>
              </a:lnSpc>
            </a:pPr>
            <a:r>
              <a:rPr lang="en-US" sz="5495" b="true">
                <a:solidFill>
                  <a:srgbClr val="6E4823"/>
                </a:solidFill>
                <a:latin typeface="Canva Sans 1 Bold"/>
                <a:ea typeface="Canva Sans 1 Bold"/>
                <a:cs typeface="Canva Sans 1 Bold"/>
                <a:sym typeface="Canva Sans 1 Bold"/>
              </a:rPr>
              <a:t>An early-warning and connection system, helping students reach professional support before their problems become severe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683463" y="92583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5996333" y="84428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210084" y="63592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435360" y="7791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1012974" y="-17948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055256" y="-29802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2897250" y="-41513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956979" y="7717346"/>
            <a:ext cx="7467514" cy="7187489"/>
            <a:chOff x="0" y="0"/>
            <a:chExt cx="9956686" cy="9583318"/>
          </a:xfrm>
        </p:grpSpPr>
        <p:sp>
          <p:nvSpPr>
            <p:cNvPr name="Freeform 19" id="19"/>
            <p:cNvSpPr/>
            <p:nvPr/>
          </p:nvSpPr>
          <p:spPr>
            <a:xfrm flipH="false" flipV="false" rot="0">
              <a:off x="0" y="0"/>
              <a:ext cx="9956673" cy="9583293"/>
            </a:xfrm>
            <a:custGeom>
              <a:avLst/>
              <a:gdLst/>
              <a:ahLst/>
              <a:cxnLst/>
              <a:rect r="r" b="b" t="t" l="l"/>
              <a:pathLst>
                <a:path h="9583293" w="9956673">
                  <a:moveTo>
                    <a:pt x="0" y="0"/>
                  </a:moveTo>
                  <a:lnTo>
                    <a:pt x="9956673" y="0"/>
                  </a:lnTo>
                  <a:lnTo>
                    <a:pt x="9956673" y="9583293"/>
                  </a:lnTo>
                  <a:lnTo>
                    <a:pt x="0" y="9583293"/>
                  </a:lnTo>
                  <a:lnTo>
                    <a:pt x="0" y="0"/>
                  </a:lnTo>
                  <a:close/>
                </a:path>
              </a:pathLst>
            </a:custGeom>
            <a:blipFill>
              <a:blip r:embed="rId8"/>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grpSp>
        <p:nvGrpSpPr>
          <p:cNvPr name="Group 22" id="22"/>
          <p:cNvGrpSpPr/>
          <p:nvPr/>
        </p:nvGrpSpPr>
        <p:grpSpPr>
          <a:xfrm rot="0">
            <a:off x="15487812" y="-4650419"/>
            <a:ext cx="3083862" cy="6949554"/>
            <a:chOff x="0" y="0"/>
            <a:chExt cx="4111816" cy="9266072"/>
          </a:xfrm>
        </p:grpSpPr>
        <p:sp>
          <p:nvSpPr>
            <p:cNvPr name="Freeform 23" id="23"/>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9"/>
              <a:stretch>
                <a:fillRect l="-113" t="0" r="-112" b="0"/>
              </a:stretch>
            </a:blipFill>
          </p:spPr>
        </p:sp>
      </p:grpSp>
      <p:sp>
        <p:nvSpPr>
          <p:cNvPr name="TextBox 24" id="24"/>
          <p:cNvSpPr txBox="true"/>
          <p:nvPr/>
        </p:nvSpPr>
        <p:spPr>
          <a:xfrm rot="0">
            <a:off x="3417494" y="2044770"/>
            <a:ext cx="11453012" cy="1662989"/>
          </a:xfrm>
          <a:prstGeom prst="rect">
            <a:avLst/>
          </a:prstGeom>
        </p:spPr>
        <p:txBody>
          <a:bodyPr anchor="t" rtlCol="false" tIns="0" lIns="0" bIns="0" rIns="0">
            <a:spAutoFit/>
          </a:bodyPr>
          <a:lstStyle/>
          <a:p>
            <a:pPr algn="ctr">
              <a:lnSpc>
                <a:spcPts val="12176"/>
              </a:lnSpc>
            </a:pPr>
            <a:r>
              <a:rPr lang="en-US" sz="8697">
                <a:solidFill>
                  <a:srgbClr val="6E4823"/>
                </a:solidFill>
                <a:latin typeface="Kingred Modern"/>
                <a:ea typeface="Kingred Modern"/>
                <a:cs typeface="Kingred Modern"/>
                <a:sym typeface="Kingred Modern"/>
              </a:rPr>
              <a:t>THE PROBLEM</a:t>
            </a:r>
          </a:p>
        </p:txBody>
      </p:sp>
      <p:sp>
        <p:nvSpPr>
          <p:cNvPr name="TextBox 25" id="25"/>
          <p:cNvSpPr txBox="true"/>
          <p:nvPr/>
        </p:nvSpPr>
        <p:spPr>
          <a:xfrm rot="0">
            <a:off x="513759" y="4082682"/>
            <a:ext cx="15482573" cy="747798"/>
          </a:xfrm>
          <a:prstGeom prst="rect">
            <a:avLst/>
          </a:prstGeom>
        </p:spPr>
        <p:txBody>
          <a:bodyPr anchor="t" rtlCol="false" tIns="0" lIns="0" bIns="0" rIns="0">
            <a:spAutoFit/>
          </a:bodyPr>
          <a:lstStyle/>
          <a:p>
            <a:pPr algn="ctr">
              <a:lnSpc>
                <a:spcPts val="5515"/>
              </a:lnSpc>
            </a:pPr>
            <a:r>
              <a:rPr lang="en-US" sz="3939">
                <a:solidFill>
                  <a:srgbClr val="6E4823"/>
                </a:solidFill>
                <a:latin typeface="Canva Sans 1"/>
                <a:ea typeface="Canva Sans 1"/>
                <a:cs typeface="Canva Sans 1"/>
                <a:sym typeface="Canva Sans 1"/>
              </a:rPr>
              <a:t>1.Nowadays, stress, anxiety, and loneliness is increasing.</a:t>
            </a:r>
          </a:p>
        </p:txBody>
      </p:sp>
      <p:sp>
        <p:nvSpPr>
          <p:cNvPr name="TextBox 26" id="26"/>
          <p:cNvSpPr txBox="true"/>
          <p:nvPr/>
        </p:nvSpPr>
        <p:spPr>
          <a:xfrm rot="0">
            <a:off x="185328" y="4935255"/>
            <a:ext cx="17804702" cy="587679"/>
          </a:xfrm>
          <a:prstGeom prst="rect">
            <a:avLst/>
          </a:prstGeom>
        </p:spPr>
        <p:txBody>
          <a:bodyPr anchor="t" rtlCol="false" tIns="0" lIns="0" bIns="0" rIns="0">
            <a:spAutoFit/>
          </a:bodyPr>
          <a:lstStyle/>
          <a:p>
            <a:pPr algn="ctr">
              <a:lnSpc>
                <a:spcPts val="4882"/>
              </a:lnSpc>
            </a:pPr>
            <a:r>
              <a:rPr lang="en-US" sz="3486">
                <a:solidFill>
                  <a:srgbClr val="6E4823"/>
                </a:solidFill>
                <a:latin typeface="Canva Sans 1"/>
                <a:ea typeface="Canva Sans 1"/>
                <a:cs typeface="Canva Sans 1"/>
                <a:sym typeface="Canva Sans 1"/>
              </a:rPr>
              <a:t>2. University has a counsellor, but students hesitate to visit due to stigma.</a:t>
            </a:r>
          </a:p>
        </p:txBody>
      </p:sp>
      <p:sp>
        <p:nvSpPr>
          <p:cNvPr name="TextBox 27" id="27"/>
          <p:cNvSpPr txBox="true"/>
          <p:nvPr/>
        </p:nvSpPr>
        <p:spPr>
          <a:xfrm rot="0">
            <a:off x="1072982" y="5663708"/>
            <a:ext cx="16142037" cy="2447287"/>
          </a:xfrm>
          <a:prstGeom prst="rect">
            <a:avLst/>
          </a:prstGeom>
        </p:spPr>
        <p:txBody>
          <a:bodyPr anchor="t" rtlCol="false" tIns="0" lIns="0" bIns="0" rIns="0">
            <a:spAutoFit/>
          </a:bodyPr>
          <a:lstStyle/>
          <a:p>
            <a:pPr algn="ctr">
              <a:lnSpc>
                <a:spcPts val="4759"/>
              </a:lnSpc>
            </a:pPr>
            <a:r>
              <a:rPr lang="en-US" sz="3399">
                <a:solidFill>
                  <a:srgbClr val="6E4823"/>
                </a:solidFill>
                <a:latin typeface="Canva Sans 1"/>
                <a:ea typeface="Canva Sans 1"/>
                <a:cs typeface="Canva Sans 1"/>
                <a:sym typeface="Canva Sans 1"/>
              </a:rPr>
              <a:t>3. No early detection system- we only know when problem becomes severe.</a:t>
            </a:r>
          </a:p>
          <a:p>
            <a:pPr algn="ctr">
              <a:lnSpc>
                <a:spcPts val="4759"/>
              </a:lnSpc>
            </a:pPr>
            <a:r>
              <a:rPr lang="en-US" sz="3399">
                <a:solidFill>
                  <a:srgbClr val="6E4823"/>
                </a:solidFill>
                <a:latin typeface="Canva Sans 1"/>
                <a:ea typeface="Canva Sans 1"/>
                <a:cs typeface="Canva Sans 1"/>
                <a:sym typeface="Canva Sans 1"/>
              </a:rPr>
              <a:t>4. Current system is reactive, not preventive.                                                          </a:t>
            </a:r>
          </a:p>
          <a:p>
            <a:pPr algn="ctr">
              <a:lnSpc>
                <a:spcPts val="4759"/>
              </a:lnSpc>
            </a:pPr>
          </a:p>
          <a:p>
            <a:pPr algn="ctr">
              <a:lnSpc>
                <a:spcPts val="4759"/>
              </a:lnSpc>
            </a:pPr>
            <a:r>
              <a:rPr lang="en-US" sz="3399">
                <a:solidFill>
                  <a:srgbClr val="6E4823"/>
                </a:solidFill>
                <a:latin typeface="Canva Sans 1"/>
                <a:ea typeface="Canva Sans 1"/>
                <a:cs typeface="Canva Sans 1"/>
                <a:sym typeface="Canva Sans 1"/>
              </a:rPr>
              <a: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683463" y="92583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5996333" y="84428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210084" y="63592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435360" y="7791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1012974" y="-17948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055256" y="-29802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2897250" y="-41513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956979" y="7717346"/>
            <a:ext cx="7467514" cy="7187489"/>
            <a:chOff x="0" y="0"/>
            <a:chExt cx="9956686" cy="9583318"/>
          </a:xfrm>
        </p:grpSpPr>
        <p:sp>
          <p:nvSpPr>
            <p:cNvPr name="Freeform 19" id="19"/>
            <p:cNvSpPr/>
            <p:nvPr/>
          </p:nvSpPr>
          <p:spPr>
            <a:xfrm flipH="false" flipV="false" rot="0">
              <a:off x="0" y="0"/>
              <a:ext cx="9956673" cy="9583293"/>
            </a:xfrm>
            <a:custGeom>
              <a:avLst/>
              <a:gdLst/>
              <a:ahLst/>
              <a:cxnLst/>
              <a:rect r="r" b="b" t="t" l="l"/>
              <a:pathLst>
                <a:path h="9583293" w="9956673">
                  <a:moveTo>
                    <a:pt x="0" y="0"/>
                  </a:moveTo>
                  <a:lnTo>
                    <a:pt x="9956673" y="0"/>
                  </a:lnTo>
                  <a:lnTo>
                    <a:pt x="9956673" y="9583293"/>
                  </a:lnTo>
                  <a:lnTo>
                    <a:pt x="0" y="9583293"/>
                  </a:lnTo>
                  <a:lnTo>
                    <a:pt x="0" y="0"/>
                  </a:lnTo>
                  <a:close/>
                </a:path>
              </a:pathLst>
            </a:custGeom>
            <a:blipFill>
              <a:blip r:embed="rId8"/>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grpSp>
        <p:nvGrpSpPr>
          <p:cNvPr name="Group 22" id="22"/>
          <p:cNvGrpSpPr/>
          <p:nvPr/>
        </p:nvGrpSpPr>
        <p:grpSpPr>
          <a:xfrm rot="0">
            <a:off x="15487812" y="-4650419"/>
            <a:ext cx="3083862" cy="6949554"/>
            <a:chOff x="0" y="0"/>
            <a:chExt cx="4111816" cy="9266072"/>
          </a:xfrm>
        </p:grpSpPr>
        <p:sp>
          <p:nvSpPr>
            <p:cNvPr name="Freeform 23" id="23"/>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9"/>
              <a:stretch>
                <a:fillRect l="-113" t="0" r="-112" b="0"/>
              </a:stretch>
            </a:blipFill>
          </p:spPr>
        </p:sp>
      </p:grpSp>
      <p:sp>
        <p:nvSpPr>
          <p:cNvPr name="TextBox 24" id="24"/>
          <p:cNvSpPr txBox="true"/>
          <p:nvPr/>
        </p:nvSpPr>
        <p:spPr>
          <a:xfrm rot="0">
            <a:off x="371723" y="2063820"/>
            <a:ext cx="17544555" cy="1572939"/>
          </a:xfrm>
          <a:prstGeom prst="rect">
            <a:avLst/>
          </a:prstGeom>
        </p:spPr>
        <p:txBody>
          <a:bodyPr anchor="t" rtlCol="false" tIns="0" lIns="0" bIns="0" rIns="0">
            <a:spAutoFit/>
          </a:bodyPr>
          <a:lstStyle/>
          <a:p>
            <a:pPr algn="ctr">
              <a:lnSpc>
                <a:spcPts val="11477"/>
              </a:lnSpc>
            </a:pPr>
            <a:r>
              <a:rPr lang="en-US" sz="8198">
                <a:solidFill>
                  <a:srgbClr val="6E4823"/>
                </a:solidFill>
                <a:latin typeface="Kingred Modern"/>
                <a:ea typeface="Kingred Modern"/>
                <a:cs typeface="Kingred Modern"/>
                <a:sym typeface="Kingred Modern"/>
              </a:rPr>
              <a:t>OUR SOLUTION-MOOD-O-METER</a:t>
            </a:r>
          </a:p>
        </p:txBody>
      </p:sp>
      <p:sp>
        <p:nvSpPr>
          <p:cNvPr name="TextBox 25" id="25"/>
          <p:cNvSpPr txBox="true"/>
          <p:nvPr/>
        </p:nvSpPr>
        <p:spPr>
          <a:xfrm rot="0">
            <a:off x="3700853" y="3945884"/>
            <a:ext cx="10886294" cy="1300534"/>
          </a:xfrm>
          <a:prstGeom prst="rect">
            <a:avLst/>
          </a:prstGeom>
        </p:spPr>
        <p:txBody>
          <a:bodyPr anchor="t" rtlCol="false" tIns="0" lIns="0" bIns="0" rIns="0">
            <a:spAutoFit/>
          </a:bodyPr>
          <a:lstStyle/>
          <a:p>
            <a:pPr algn="l" marL="810920" indent="-270307" lvl="2">
              <a:lnSpc>
                <a:spcPts val="4966"/>
              </a:lnSpc>
              <a:buFont typeface="Arial"/>
              <a:buChar char="⚬"/>
            </a:pPr>
            <a:r>
              <a:rPr lang="en-US" sz="3546">
                <a:solidFill>
                  <a:srgbClr val="000000"/>
                </a:solidFill>
                <a:latin typeface="Helvetica World"/>
                <a:ea typeface="Helvetica World"/>
                <a:cs typeface="Helvetica World"/>
                <a:sym typeface="Helvetica World"/>
              </a:rPr>
              <a:t>A voluntary , privacy- friendly wellness kiosk placed in a area of the university( one kiosk in one block)</a:t>
            </a:r>
          </a:p>
        </p:txBody>
      </p:sp>
      <p:sp>
        <p:nvSpPr>
          <p:cNvPr name="TextBox 26" id="26"/>
          <p:cNvSpPr txBox="true"/>
          <p:nvPr/>
        </p:nvSpPr>
        <p:spPr>
          <a:xfrm rot="0">
            <a:off x="3700853" y="5694997"/>
            <a:ext cx="11786959" cy="714432"/>
          </a:xfrm>
          <a:prstGeom prst="rect">
            <a:avLst/>
          </a:prstGeom>
        </p:spPr>
        <p:txBody>
          <a:bodyPr anchor="t" rtlCol="false" tIns="0" lIns="0" bIns="0" rIns="0">
            <a:spAutoFit/>
          </a:bodyPr>
          <a:lstStyle/>
          <a:p>
            <a:pPr algn="l" marL="856640" indent="-285547" lvl="2">
              <a:lnSpc>
                <a:spcPts val="5245"/>
              </a:lnSpc>
              <a:buFont typeface="Arial"/>
              <a:buChar char="⚬"/>
            </a:pPr>
            <a:r>
              <a:rPr lang="en-US" sz="3747">
                <a:solidFill>
                  <a:srgbClr val="000000"/>
                </a:solidFill>
                <a:latin typeface="Helvetica World"/>
                <a:ea typeface="Helvetica World"/>
                <a:cs typeface="Helvetica World"/>
                <a:sym typeface="Helvetica World"/>
              </a:rPr>
              <a:t>core principle-AI detects-AI supports-human solves</a:t>
            </a:r>
          </a:p>
        </p:txBody>
      </p:sp>
      <p:sp>
        <p:nvSpPr>
          <p:cNvPr name="TextBox 27" id="27"/>
          <p:cNvSpPr txBox="true"/>
          <p:nvPr/>
        </p:nvSpPr>
        <p:spPr>
          <a:xfrm rot="0">
            <a:off x="0" y="6660871"/>
            <a:ext cx="18288000" cy="1586227"/>
          </a:xfrm>
          <a:prstGeom prst="rect">
            <a:avLst/>
          </a:prstGeom>
        </p:spPr>
        <p:txBody>
          <a:bodyPr anchor="t" rtlCol="false" tIns="0" lIns="0" bIns="0" rIns="0">
            <a:spAutoFit/>
          </a:bodyPr>
          <a:lstStyle/>
          <a:p>
            <a:pPr algn="ctr">
              <a:lnSpc>
                <a:spcPts val="6018"/>
              </a:lnSpc>
            </a:pPr>
            <a:r>
              <a:rPr lang="en-US" sz="4299">
                <a:solidFill>
                  <a:srgbClr val="AF0505"/>
                </a:solidFill>
                <a:latin typeface="Canva Sans 1"/>
                <a:ea typeface="Canva Sans 1"/>
                <a:cs typeface="Canva Sans 1"/>
                <a:sym typeface="Canva Sans 1"/>
              </a:rPr>
              <a:t>#AI will not replace counsellors, it will help counsellors find peoples who need help.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683463" y="92583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5996333" y="84428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210084" y="63592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435360" y="7791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1012974" y="-17948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055256" y="-29802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2897250" y="-41513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956979" y="7717346"/>
            <a:ext cx="7467514" cy="7187489"/>
            <a:chOff x="0" y="0"/>
            <a:chExt cx="9956686" cy="9583318"/>
          </a:xfrm>
        </p:grpSpPr>
        <p:sp>
          <p:nvSpPr>
            <p:cNvPr name="Freeform 19" id="19"/>
            <p:cNvSpPr/>
            <p:nvPr/>
          </p:nvSpPr>
          <p:spPr>
            <a:xfrm flipH="false" flipV="false" rot="0">
              <a:off x="0" y="0"/>
              <a:ext cx="9956673" cy="9583293"/>
            </a:xfrm>
            <a:custGeom>
              <a:avLst/>
              <a:gdLst/>
              <a:ahLst/>
              <a:cxnLst/>
              <a:rect r="r" b="b" t="t" l="l"/>
              <a:pathLst>
                <a:path h="9583293" w="9956673">
                  <a:moveTo>
                    <a:pt x="0" y="0"/>
                  </a:moveTo>
                  <a:lnTo>
                    <a:pt x="9956673" y="0"/>
                  </a:lnTo>
                  <a:lnTo>
                    <a:pt x="9956673" y="9583293"/>
                  </a:lnTo>
                  <a:lnTo>
                    <a:pt x="0" y="9583293"/>
                  </a:lnTo>
                  <a:lnTo>
                    <a:pt x="0" y="0"/>
                  </a:lnTo>
                  <a:close/>
                </a:path>
              </a:pathLst>
            </a:custGeom>
            <a:blipFill>
              <a:blip r:embed="rId8"/>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grpSp>
        <p:nvGrpSpPr>
          <p:cNvPr name="Group 22" id="22"/>
          <p:cNvGrpSpPr/>
          <p:nvPr/>
        </p:nvGrpSpPr>
        <p:grpSpPr>
          <a:xfrm rot="0">
            <a:off x="15487812" y="-4650419"/>
            <a:ext cx="3083862" cy="6949554"/>
            <a:chOff x="0" y="0"/>
            <a:chExt cx="4111816" cy="9266072"/>
          </a:xfrm>
        </p:grpSpPr>
        <p:sp>
          <p:nvSpPr>
            <p:cNvPr name="Freeform 23" id="23"/>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9"/>
              <a:stretch>
                <a:fillRect l="-113" t="0" r="-112" b="0"/>
              </a:stretch>
            </a:blipFill>
          </p:spPr>
        </p:sp>
      </p:grpSp>
      <p:sp>
        <p:nvSpPr>
          <p:cNvPr name="TextBox 24" id="24"/>
          <p:cNvSpPr txBox="true"/>
          <p:nvPr/>
        </p:nvSpPr>
        <p:spPr>
          <a:xfrm rot="0">
            <a:off x="4022236" y="394545"/>
            <a:ext cx="9167812" cy="1737998"/>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1 Bold"/>
                <a:ea typeface="Canva Sans 1 Bold"/>
                <a:cs typeface="Canva Sans 1 Bold"/>
                <a:sym typeface="Canva Sans 1 Bold"/>
              </a:rPr>
              <a:t>INTRODUCTION</a:t>
            </a:r>
          </a:p>
        </p:txBody>
      </p:sp>
      <p:sp>
        <p:nvSpPr>
          <p:cNvPr name="TextBox 25" id="25"/>
          <p:cNvSpPr txBox="true"/>
          <p:nvPr/>
        </p:nvSpPr>
        <p:spPr>
          <a:xfrm rot="0">
            <a:off x="512664" y="2404453"/>
            <a:ext cx="17262662" cy="7813672"/>
          </a:xfrm>
          <a:prstGeom prst="rect">
            <a:avLst/>
          </a:prstGeom>
        </p:spPr>
        <p:txBody>
          <a:bodyPr anchor="t" rtlCol="false" tIns="0" lIns="0" bIns="0" rIns="0">
            <a:spAutoFit/>
          </a:bodyPr>
          <a:lstStyle/>
          <a:p>
            <a:pPr algn="ctr">
              <a:lnSpc>
                <a:spcPts val="5599"/>
              </a:lnSpc>
            </a:pPr>
            <a:r>
              <a:rPr lang="en-US" sz="3999" b="true">
                <a:solidFill>
                  <a:srgbClr val="307834"/>
                </a:solidFill>
                <a:latin typeface="Canva Sans 1 Bold"/>
                <a:ea typeface="Canva Sans 1 Bold"/>
                <a:cs typeface="Canva Sans 1 Bold"/>
                <a:sym typeface="Canva Sans 1 Bold"/>
              </a:rPr>
              <a:t>we propse an idea of installing AI-empowered emotional wellness kiosks across for both the students &amp; and the faculty , where they can voluntarily scan their face and listens to their voice on the questions asked on the screen like the brain detecting machine and gives a scorecard of your emotional &amp; mental health &amp; and the tips to reduce the stress, anxiety &amp; depression based on scorecard it will also tell you whether you have to consult a psychologist / counselor or you can cope with your stress by doing some mindfulness other activity .</a:t>
            </a:r>
          </a:p>
          <a:p>
            <a:pPr algn="ctr">
              <a:lnSpc>
                <a:spcPts val="5599"/>
              </a:lnSpc>
            </a:pPr>
            <a:r>
              <a:rPr lang="en-US" sz="3999" b="true">
                <a:solidFill>
                  <a:srgbClr val="307834"/>
                </a:solidFill>
                <a:latin typeface="Canva Sans 1 Bold"/>
                <a:ea typeface="Canva Sans 1 Bold"/>
                <a:cs typeface="Canva Sans 1 Bold"/>
                <a:sym typeface="Canva Sans 1 Bold"/>
              </a:rPr>
              <a:t>this is a first step in the detection of the mental emotional health.</a:t>
            </a:r>
          </a:p>
          <a:p>
            <a:pPr algn="ctr">
              <a:lnSpc>
                <a:spcPts val="5599"/>
              </a:lnSpc>
            </a:pPr>
          </a:p>
          <a:p>
            <a:pPr algn="ctr">
              <a:lnSpc>
                <a:spcPts val="55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683463" y="92583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5996333" y="84428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210084" y="63592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435360" y="7791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1012974" y="-17948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055256" y="-29802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2897250" y="-41513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956979" y="7717346"/>
            <a:ext cx="7467514" cy="7187489"/>
            <a:chOff x="0" y="0"/>
            <a:chExt cx="9956686" cy="9583318"/>
          </a:xfrm>
        </p:grpSpPr>
        <p:sp>
          <p:nvSpPr>
            <p:cNvPr name="Freeform 19" id="19"/>
            <p:cNvSpPr/>
            <p:nvPr/>
          </p:nvSpPr>
          <p:spPr>
            <a:xfrm flipH="false" flipV="false" rot="0">
              <a:off x="0" y="0"/>
              <a:ext cx="9956673" cy="9583293"/>
            </a:xfrm>
            <a:custGeom>
              <a:avLst/>
              <a:gdLst/>
              <a:ahLst/>
              <a:cxnLst/>
              <a:rect r="r" b="b" t="t" l="l"/>
              <a:pathLst>
                <a:path h="9583293" w="9956673">
                  <a:moveTo>
                    <a:pt x="0" y="0"/>
                  </a:moveTo>
                  <a:lnTo>
                    <a:pt x="9956673" y="0"/>
                  </a:lnTo>
                  <a:lnTo>
                    <a:pt x="9956673" y="9583293"/>
                  </a:lnTo>
                  <a:lnTo>
                    <a:pt x="0" y="9583293"/>
                  </a:lnTo>
                  <a:lnTo>
                    <a:pt x="0" y="0"/>
                  </a:lnTo>
                  <a:close/>
                </a:path>
              </a:pathLst>
            </a:custGeom>
            <a:blipFill>
              <a:blip r:embed="rId8"/>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grpSp>
        <p:nvGrpSpPr>
          <p:cNvPr name="Group 22" id="22"/>
          <p:cNvGrpSpPr/>
          <p:nvPr/>
        </p:nvGrpSpPr>
        <p:grpSpPr>
          <a:xfrm rot="0">
            <a:off x="15244791" y="-4625140"/>
            <a:ext cx="3083862" cy="6949554"/>
            <a:chOff x="0" y="0"/>
            <a:chExt cx="4111816" cy="9266072"/>
          </a:xfrm>
        </p:grpSpPr>
        <p:sp>
          <p:nvSpPr>
            <p:cNvPr name="Freeform 23" id="23"/>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9"/>
              <a:stretch>
                <a:fillRect l="-113" t="0" r="-112" b="0"/>
              </a:stretch>
            </a:blipFill>
          </p:spPr>
        </p:sp>
      </p:grpSp>
      <p:sp>
        <p:nvSpPr>
          <p:cNvPr name="TextBox 24" id="24"/>
          <p:cNvSpPr txBox="true"/>
          <p:nvPr/>
        </p:nvSpPr>
        <p:spPr>
          <a:xfrm rot="0">
            <a:off x="438579" y="2210114"/>
            <a:ext cx="17849421" cy="2501903"/>
          </a:xfrm>
          <a:prstGeom prst="rect">
            <a:avLst/>
          </a:prstGeom>
        </p:spPr>
        <p:txBody>
          <a:bodyPr anchor="t" rtlCol="false" tIns="0" lIns="0" bIns="0" rIns="0">
            <a:spAutoFit/>
          </a:bodyPr>
          <a:lstStyle/>
          <a:p>
            <a:pPr algn="ctr">
              <a:lnSpc>
                <a:spcPts val="4898"/>
              </a:lnSpc>
            </a:pPr>
            <a:r>
              <a:rPr lang="en-US" sz="3498">
                <a:solidFill>
                  <a:srgbClr val="307834"/>
                </a:solidFill>
                <a:latin typeface="Canva Sans 1"/>
                <a:ea typeface="Canva Sans 1"/>
                <a:cs typeface="Canva Sans 1"/>
                <a:sym typeface="Canva Sans 1"/>
              </a:rPr>
              <a:t>The second step will be the counselling round in this we will appoint an clinical psychiatrist or psychologist in the university who will access the data of the moodometer , and personally contact those people who score very low in the activity and gave them counselling. </a:t>
            </a:r>
          </a:p>
        </p:txBody>
      </p:sp>
      <p:sp>
        <p:nvSpPr>
          <p:cNvPr name="TextBox 25" id="25"/>
          <p:cNvSpPr txBox="true"/>
          <p:nvPr/>
        </p:nvSpPr>
        <p:spPr>
          <a:xfrm rot="0">
            <a:off x="714137" y="5498735"/>
            <a:ext cx="16545163" cy="1847298"/>
          </a:xfrm>
          <a:prstGeom prst="rect">
            <a:avLst/>
          </a:prstGeom>
        </p:spPr>
        <p:txBody>
          <a:bodyPr anchor="t" rtlCol="false" tIns="0" lIns="0" bIns="0" rIns="0">
            <a:spAutoFit/>
          </a:bodyPr>
          <a:lstStyle/>
          <a:p>
            <a:pPr algn="ctr">
              <a:lnSpc>
                <a:spcPts val="4755"/>
              </a:lnSpc>
            </a:pPr>
            <a:r>
              <a:rPr lang="en-US" sz="3396">
                <a:solidFill>
                  <a:srgbClr val="307834"/>
                </a:solidFill>
                <a:latin typeface="Canva Sans 1"/>
                <a:ea typeface="Canva Sans 1"/>
                <a:cs typeface="Canva Sans 1"/>
                <a:sym typeface="Canva Sans 1"/>
              </a:rPr>
              <a:t>it is not AI based , it combines both the AI- detecting  technology &amp; the human - interaction as the second &amp; important step to boost mental health &amp; help patients.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683463" y="92583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5996333" y="84428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210084" y="63592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435360" y="7791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1012974" y="-17948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055256" y="-29802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2897250" y="-41513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956979" y="7717346"/>
            <a:ext cx="7467514" cy="7187489"/>
            <a:chOff x="0" y="0"/>
            <a:chExt cx="9956686" cy="9583318"/>
          </a:xfrm>
        </p:grpSpPr>
        <p:sp>
          <p:nvSpPr>
            <p:cNvPr name="Freeform 19" id="19"/>
            <p:cNvSpPr/>
            <p:nvPr/>
          </p:nvSpPr>
          <p:spPr>
            <a:xfrm flipH="false" flipV="false" rot="0">
              <a:off x="0" y="0"/>
              <a:ext cx="9956673" cy="9583293"/>
            </a:xfrm>
            <a:custGeom>
              <a:avLst/>
              <a:gdLst/>
              <a:ahLst/>
              <a:cxnLst/>
              <a:rect r="r" b="b" t="t" l="l"/>
              <a:pathLst>
                <a:path h="9583293" w="9956673">
                  <a:moveTo>
                    <a:pt x="0" y="0"/>
                  </a:moveTo>
                  <a:lnTo>
                    <a:pt x="9956673" y="0"/>
                  </a:lnTo>
                  <a:lnTo>
                    <a:pt x="9956673" y="9583293"/>
                  </a:lnTo>
                  <a:lnTo>
                    <a:pt x="0" y="9583293"/>
                  </a:lnTo>
                  <a:lnTo>
                    <a:pt x="0" y="0"/>
                  </a:lnTo>
                  <a:close/>
                </a:path>
              </a:pathLst>
            </a:custGeom>
            <a:blipFill>
              <a:blip r:embed="rId8"/>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grpSp>
        <p:nvGrpSpPr>
          <p:cNvPr name="Group 22" id="22"/>
          <p:cNvGrpSpPr/>
          <p:nvPr/>
        </p:nvGrpSpPr>
        <p:grpSpPr>
          <a:xfrm rot="0">
            <a:off x="15487812" y="-4650419"/>
            <a:ext cx="3083862" cy="6949554"/>
            <a:chOff x="0" y="0"/>
            <a:chExt cx="4111816" cy="9266072"/>
          </a:xfrm>
        </p:grpSpPr>
        <p:sp>
          <p:nvSpPr>
            <p:cNvPr name="Freeform 23" id="23"/>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9"/>
              <a:stretch>
                <a:fillRect l="-113" t="0" r="-112" b="0"/>
              </a:stretch>
            </a:blipFill>
          </p:spPr>
        </p:sp>
      </p:grpSp>
      <p:sp>
        <p:nvSpPr>
          <p:cNvPr name="TextBox 24" id="24"/>
          <p:cNvSpPr txBox="true"/>
          <p:nvPr/>
        </p:nvSpPr>
        <p:spPr>
          <a:xfrm rot="0">
            <a:off x="3691747" y="903389"/>
            <a:ext cx="9791433" cy="1662989"/>
          </a:xfrm>
          <a:prstGeom prst="rect">
            <a:avLst/>
          </a:prstGeom>
        </p:spPr>
        <p:txBody>
          <a:bodyPr anchor="t" rtlCol="false" tIns="0" lIns="0" bIns="0" rIns="0">
            <a:spAutoFit/>
          </a:bodyPr>
          <a:lstStyle/>
          <a:p>
            <a:pPr algn="ctr">
              <a:lnSpc>
                <a:spcPts val="12176"/>
              </a:lnSpc>
            </a:pPr>
            <a:r>
              <a:rPr lang="en-US" sz="8697">
                <a:solidFill>
                  <a:srgbClr val="6E4823"/>
                </a:solidFill>
                <a:latin typeface="Kingred Modern"/>
                <a:ea typeface="Kingred Modern"/>
                <a:cs typeface="Kingred Modern"/>
                <a:sym typeface="Kingred Modern"/>
              </a:rPr>
              <a:t>ADVANTAGES</a:t>
            </a:r>
          </a:p>
        </p:txBody>
      </p:sp>
      <p:sp>
        <p:nvSpPr>
          <p:cNvPr name="TextBox 25" id="25"/>
          <p:cNvSpPr txBox="true"/>
          <p:nvPr/>
        </p:nvSpPr>
        <p:spPr>
          <a:xfrm rot="0">
            <a:off x="-421643" y="3300755"/>
            <a:ext cx="19131286" cy="4994272"/>
          </a:xfrm>
          <a:prstGeom prst="rect">
            <a:avLst/>
          </a:prstGeom>
        </p:spPr>
        <p:txBody>
          <a:bodyPr anchor="t" rtlCol="false" tIns="0" lIns="0" bIns="0" rIns="0">
            <a:spAutoFit/>
          </a:bodyPr>
          <a:lstStyle/>
          <a:p>
            <a:pPr algn="ctr">
              <a:lnSpc>
                <a:spcPts val="5599"/>
              </a:lnSpc>
            </a:pPr>
            <a:r>
              <a:rPr lang="en-US" sz="3999" b="true">
                <a:solidFill>
                  <a:srgbClr val="6E4823"/>
                </a:solidFill>
                <a:latin typeface="Canva Sans 1 Bold"/>
                <a:ea typeface="Canva Sans 1 Bold"/>
                <a:cs typeface="Canva Sans 1 Bold"/>
                <a:sym typeface="Canva Sans 1 Bold"/>
              </a:rPr>
              <a:t>~ Combination of both AI and human interaction</a:t>
            </a:r>
          </a:p>
          <a:p>
            <a:pPr algn="ctr">
              <a:lnSpc>
                <a:spcPts val="5599"/>
              </a:lnSpc>
            </a:pPr>
            <a:r>
              <a:rPr lang="en-US" sz="3999" b="true">
                <a:solidFill>
                  <a:srgbClr val="6E4823"/>
                </a:solidFill>
                <a:latin typeface="Canva Sans 1 Bold"/>
                <a:ea typeface="Canva Sans 1 Bold"/>
                <a:cs typeface="Canva Sans 1 Bold"/>
                <a:sym typeface="Canva Sans 1 Bold"/>
              </a:rPr>
              <a:t>~ Keeps the privacy                                                          </a:t>
            </a:r>
          </a:p>
          <a:p>
            <a:pPr algn="ctr">
              <a:lnSpc>
                <a:spcPts val="5599"/>
              </a:lnSpc>
            </a:pPr>
            <a:r>
              <a:rPr lang="en-US" sz="3999" b="true">
                <a:solidFill>
                  <a:srgbClr val="6E4823"/>
                </a:solidFill>
                <a:latin typeface="Canva Sans 1 Bold"/>
                <a:ea typeface="Canva Sans 1 Bold"/>
                <a:cs typeface="Canva Sans 1 Bold"/>
                <a:sym typeface="Canva Sans 1 Bold"/>
              </a:rPr>
              <a:t>~No issue of facing disrespect as the data is private </a:t>
            </a:r>
          </a:p>
          <a:p>
            <a:pPr algn="ctr">
              <a:lnSpc>
                <a:spcPts val="5599"/>
              </a:lnSpc>
            </a:pPr>
            <a:r>
              <a:rPr lang="en-US" sz="3999" b="true">
                <a:solidFill>
                  <a:srgbClr val="6E4823"/>
                </a:solidFill>
                <a:latin typeface="Canva Sans 1 Bold"/>
                <a:ea typeface="Canva Sans 1 Bold"/>
                <a:cs typeface="Canva Sans 1 Bold"/>
                <a:sym typeface="Canva Sans 1 Bold"/>
              </a:rPr>
              <a:t>and secure                                                                              </a:t>
            </a:r>
          </a:p>
          <a:p>
            <a:pPr algn="ctr">
              <a:lnSpc>
                <a:spcPts val="5599"/>
              </a:lnSpc>
            </a:pPr>
            <a:r>
              <a:rPr lang="en-US" sz="3999" b="true">
                <a:solidFill>
                  <a:srgbClr val="6E4823"/>
                </a:solidFill>
                <a:latin typeface="Canva Sans 1 Bold"/>
                <a:ea typeface="Canva Sans 1 Bold"/>
                <a:cs typeface="Canva Sans 1 Bold"/>
                <a:sym typeface="Canva Sans 1 Bold"/>
              </a:rPr>
              <a:t>~Keeps the day scheduling                                                </a:t>
            </a:r>
          </a:p>
          <a:p>
            <a:pPr algn="ctr">
              <a:lnSpc>
                <a:spcPts val="5599"/>
              </a:lnSpc>
            </a:pPr>
            <a:r>
              <a:rPr lang="en-US" sz="3999" b="true">
                <a:solidFill>
                  <a:srgbClr val="6E4823"/>
                </a:solidFill>
                <a:latin typeface="Canva Sans 1 Bold"/>
                <a:ea typeface="Canva Sans 1 Bold"/>
                <a:cs typeface="Canva Sans 1 Bold"/>
                <a:sym typeface="Canva Sans 1 Bold"/>
              </a:rPr>
              <a:t>~ Removes hesitation                                                        </a:t>
            </a:r>
          </a:p>
          <a:p>
            <a:pPr algn="ctr">
              <a:lnSpc>
                <a:spcPts val="5599"/>
              </a:lnSpc>
            </a:pPr>
            <a:r>
              <a:rPr lang="en-US" sz="3999" b="true">
                <a:solidFill>
                  <a:srgbClr val="6E4823"/>
                </a:solidFill>
                <a:latin typeface="Canva Sans 1 Bold"/>
                <a:ea typeface="Canva Sans 1 Bold"/>
                <a:cs typeface="Canva Sans 1 Bold"/>
                <a:sym typeface="Canva Sans 1 Bold"/>
              </a:rPr>
              <a:t>~Direct contact with professionals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683463" y="92583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5996333" y="84428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210084" y="63592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435360" y="7791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1012974" y="-17948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055256" y="-29802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2897250" y="-41513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956979" y="7717346"/>
            <a:ext cx="7467514" cy="7187489"/>
            <a:chOff x="0" y="0"/>
            <a:chExt cx="9956686" cy="9583318"/>
          </a:xfrm>
        </p:grpSpPr>
        <p:sp>
          <p:nvSpPr>
            <p:cNvPr name="Freeform 19" id="19"/>
            <p:cNvSpPr/>
            <p:nvPr/>
          </p:nvSpPr>
          <p:spPr>
            <a:xfrm flipH="false" flipV="false" rot="0">
              <a:off x="0" y="0"/>
              <a:ext cx="9956673" cy="9583293"/>
            </a:xfrm>
            <a:custGeom>
              <a:avLst/>
              <a:gdLst/>
              <a:ahLst/>
              <a:cxnLst/>
              <a:rect r="r" b="b" t="t" l="l"/>
              <a:pathLst>
                <a:path h="9583293" w="9956673">
                  <a:moveTo>
                    <a:pt x="0" y="0"/>
                  </a:moveTo>
                  <a:lnTo>
                    <a:pt x="9956673" y="0"/>
                  </a:lnTo>
                  <a:lnTo>
                    <a:pt x="9956673" y="9583293"/>
                  </a:lnTo>
                  <a:lnTo>
                    <a:pt x="0" y="9583293"/>
                  </a:lnTo>
                  <a:lnTo>
                    <a:pt x="0" y="0"/>
                  </a:lnTo>
                  <a:close/>
                </a:path>
              </a:pathLst>
            </a:custGeom>
            <a:blipFill>
              <a:blip r:embed="rId8"/>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grpSp>
        <p:nvGrpSpPr>
          <p:cNvPr name="Group 22" id="22"/>
          <p:cNvGrpSpPr/>
          <p:nvPr/>
        </p:nvGrpSpPr>
        <p:grpSpPr>
          <a:xfrm rot="0">
            <a:off x="15487812" y="-4650419"/>
            <a:ext cx="3083862" cy="6949554"/>
            <a:chOff x="0" y="0"/>
            <a:chExt cx="4111816" cy="9266072"/>
          </a:xfrm>
        </p:grpSpPr>
        <p:sp>
          <p:nvSpPr>
            <p:cNvPr name="Freeform 23" id="23"/>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9"/>
              <a:stretch>
                <a:fillRect l="-113" t="0" r="-112" b="0"/>
              </a:stretch>
            </a:blipFill>
          </p:spPr>
        </p:sp>
      </p:grpSp>
      <p:sp>
        <p:nvSpPr>
          <p:cNvPr name="TextBox 24" id="24"/>
          <p:cNvSpPr txBox="true"/>
          <p:nvPr/>
        </p:nvSpPr>
        <p:spPr>
          <a:xfrm rot="0">
            <a:off x="726443" y="1319241"/>
            <a:ext cx="17551879" cy="1247137"/>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1 Bold"/>
                <a:ea typeface="Canva Sans 1 Bold"/>
                <a:cs typeface="Canva Sans 1 Bold"/>
                <a:sym typeface="Canva Sans 1 Bold"/>
              </a:rPr>
              <a:t>The best part of the proposal or the project is that it involves both the AI model &amp; human , not the AI vs Human.</a:t>
            </a:r>
          </a:p>
        </p:txBody>
      </p:sp>
      <p:sp>
        <p:nvSpPr>
          <p:cNvPr name="TextBox 25" id="25"/>
          <p:cNvSpPr txBox="true"/>
          <p:nvPr/>
        </p:nvSpPr>
        <p:spPr>
          <a:xfrm rot="0">
            <a:off x="556127" y="2760145"/>
            <a:ext cx="16230600" cy="1247137"/>
          </a:xfrm>
          <a:prstGeom prst="rect">
            <a:avLst/>
          </a:prstGeom>
        </p:spPr>
        <p:txBody>
          <a:bodyPr anchor="t" rtlCol="false" tIns="0" lIns="0" bIns="0" rIns="0">
            <a:spAutoFit/>
          </a:bodyPr>
          <a:lstStyle/>
          <a:p>
            <a:pPr algn="ctr">
              <a:lnSpc>
                <a:spcPts val="4759"/>
              </a:lnSpc>
            </a:pPr>
            <a:r>
              <a:rPr lang="en-US" sz="3399" b="true">
                <a:solidFill>
                  <a:srgbClr val="AF0505"/>
                </a:solidFill>
                <a:latin typeface="Canva Sans 1 Bold"/>
                <a:ea typeface="Canva Sans 1 Bold"/>
                <a:cs typeface="Canva Sans 1 Bold"/>
                <a:sym typeface="Canva Sans 1 Bold"/>
              </a:rPr>
              <a:t>: AI detects- AI supports- human solve`s the problem (&amp; help the patient to become fully recover)</a:t>
            </a:r>
          </a:p>
        </p:txBody>
      </p:sp>
      <p:sp>
        <p:nvSpPr>
          <p:cNvPr name="TextBox 26" id="26"/>
          <p:cNvSpPr txBox="true"/>
          <p:nvPr/>
        </p:nvSpPr>
        <p:spPr>
          <a:xfrm rot="0">
            <a:off x="276816" y="4197791"/>
            <a:ext cx="16230600" cy="1247137"/>
          </a:xfrm>
          <a:prstGeom prst="rect">
            <a:avLst/>
          </a:prstGeom>
        </p:spPr>
        <p:txBody>
          <a:bodyPr anchor="t" rtlCol="false" tIns="0" lIns="0" bIns="0" rIns="0">
            <a:spAutoFit/>
          </a:bodyPr>
          <a:lstStyle/>
          <a:p>
            <a:pPr algn="ctr">
              <a:lnSpc>
                <a:spcPts val="4759"/>
              </a:lnSpc>
            </a:pPr>
            <a:r>
              <a:rPr lang="en-US" sz="3399">
                <a:solidFill>
                  <a:srgbClr val="AF0505"/>
                </a:solidFill>
                <a:latin typeface="Canva Sans 1"/>
                <a:ea typeface="Canva Sans 1"/>
                <a:cs typeface="Canva Sans 1"/>
                <a:sym typeface="Canva Sans 1"/>
              </a:rPr>
              <a:t># </a:t>
            </a:r>
            <a:r>
              <a:rPr lang="en-US" sz="3399" b="true">
                <a:solidFill>
                  <a:srgbClr val="AF0505"/>
                </a:solidFill>
                <a:latin typeface="Canva Sans 1 Bold"/>
                <a:ea typeface="Canva Sans 1 Bold"/>
                <a:cs typeface="Canva Sans 1 Bold"/>
                <a:sym typeface="Canva Sans 1 Bold"/>
              </a:rPr>
              <a:t>The AI should not replace counsellor but it`ll help them to detect the correct mental health situation at that time.</a:t>
            </a:r>
          </a:p>
        </p:txBody>
      </p:sp>
      <p:sp>
        <p:nvSpPr>
          <p:cNvPr name="TextBox 27" id="27"/>
          <p:cNvSpPr txBox="true"/>
          <p:nvPr/>
        </p:nvSpPr>
        <p:spPr>
          <a:xfrm rot="0">
            <a:off x="826989" y="6161437"/>
            <a:ext cx="16432311" cy="2447287"/>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1 Bold"/>
                <a:ea typeface="Canva Sans 1 Bold"/>
                <a:cs typeface="Canva Sans 1 Bold"/>
                <a:sym typeface="Canva Sans 1 Bold"/>
              </a:rPr>
              <a:t>The kiosk act as an early-warning &amp; connection system,helping patients reach professional support before their problems become severe, this is more scientifically responsible as it doesn`t directly based on the AI results, it just the roughly estimate  of their mental health.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683463" y="92583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5996333" y="84428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210084" y="63592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435360" y="7791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1012974" y="-17948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055256" y="-29802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2897250" y="-41513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956979" y="7717346"/>
            <a:ext cx="7467514" cy="7187489"/>
            <a:chOff x="0" y="0"/>
            <a:chExt cx="9956686" cy="9583318"/>
          </a:xfrm>
        </p:grpSpPr>
        <p:sp>
          <p:nvSpPr>
            <p:cNvPr name="Freeform 19" id="19"/>
            <p:cNvSpPr/>
            <p:nvPr/>
          </p:nvSpPr>
          <p:spPr>
            <a:xfrm flipH="false" flipV="false" rot="0">
              <a:off x="0" y="0"/>
              <a:ext cx="9956673" cy="9583293"/>
            </a:xfrm>
            <a:custGeom>
              <a:avLst/>
              <a:gdLst/>
              <a:ahLst/>
              <a:cxnLst/>
              <a:rect r="r" b="b" t="t" l="l"/>
              <a:pathLst>
                <a:path h="9583293" w="9956673">
                  <a:moveTo>
                    <a:pt x="0" y="0"/>
                  </a:moveTo>
                  <a:lnTo>
                    <a:pt x="9956673" y="0"/>
                  </a:lnTo>
                  <a:lnTo>
                    <a:pt x="9956673" y="9583293"/>
                  </a:lnTo>
                  <a:lnTo>
                    <a:pt x="0" y="9583293"/>
                  </a:lnTo>
                  <a:lnTo>
                    <a:pt x="0" y="0"/>
                  </a:lnTo>
                  <a:close/>
                </a:path>
              </a:pathLst>
            </a:custGeom>
            <a:blipFill>
              <a:blip r:embed="rId8"/>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grpSp>
        <p:nvGrpSpPr>
          <p:cNvPr name="Group 22" id="22"/>
          <p:cNvGrpSpPr/>
          <p:nvPr/>
        </p:nvGrpSpPr>
        <p:grpSpPr>
          <a:xfrm rot="0">
            <a:off x="15487812" y="-4650419"/>
            <a:ext cx="3083862" cy="6949554"/>
            <a:chOff x="0" y="0"/>
            <a:chExt cx="4111816" cy="9266072"/>
          </a:xfrm>
        </p:grpSpPr>
        <p:sp>
          <p:nvSpPr>
            <p:cNvPr name="Freeform 23" id="23"/>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9"/>
              <a:stretch>
                <a:fillRect l="-113" t="0" r="-112" b="0"/>
              </a:stretch>
            </a:blipFill>
          </p:spPr>
        </p:sp>
      </p:grpSp>
      <p:sp>
        <p:nvSpPr>
          <p:cNvPr name="TextBox 24" id="24"/>
          <p:cNvSpPr txBox="true"/>
          <p:nvPr/>
        </p:nvSpPr>
        <p:spPr>
          <a:xfrm rot="0">
            <a:off x="604190" y="2109245"/>
            <a:ext cx="16655110" cy="1416110"/>
          </a:xfrm>
          <a:prstGeom prst="rect">
            <a:avLst/>
          </a:prstGeom>
        </p:spPr>
        <p:txBody>
          <a:bodyPr anchor="t" rtlCol="false" tIns="0" lIns="0" bIns="0" rIns="0">
            <a:spAutoFit/>
          </a:bodyPr>
          <a:lstStyle/>
          <a:p>
            <a:pPr algn="ctr">
              <a:lnSpc>
                <a:spcPts val="5105"/>
              </a:lnSpc>
            </a:pPr>
            <a:r>
              <a:rPr lang="en-US" sz="3647">
                <a:solidFill>
                  <a:srgbClr val="000000"/>
                </a:solidFill>
                <a:latin typeface="Helvetica World"/>
                <a:ea typeface="Helvetica World"/>
                <a:cs typeface="Helvetica World"/>
                <a:sym typeface="Helvetica World"/>
              </a:rPr>
              <a:t>Talk to me option after giving the scorecard , the AI will  give the questions on the screen </a:t>
            </a:r>
            <a:r>
              <a:rPr lang="en-US" b="true" sz="3647" u="sng">
                <a:solidFill>
                  <a:srgbClr val="000000"/>
                </a:solidFill>
                <a:latin typeface="Helvetica World Bold"/>
                <a:ea typeface="Helvetica World Bold"/>
                <a:cs typeface="Helvetica World Bold"/>
                <a:sym typeface="Helvetica World Bold"/>
              </a:rPr>
              <a:t>what do you need right now?</a:t>
            </a:r>
          </a:p>
        </p:txBody>
      </p:sp>
      <p:grpSp>
        <p:nvGrpSpPr>
          <p:cNvPr name="Group 25" id="25"/>
          <p:cNvGrpSpPr/>
          <p:nvPr/>
        </p:nvGrpSpPr>
        <p:grpSpPr>
          <a:xfrm rot="-5400000">
            <a:off x="13835863" y="9410700"/>
            <a:ext cx="2902991" cy="3303546"/>
            <a:chOff x="0" y="0"/>
            <a:chExt cx="3870655" cy="4404728"/>
          </a:xfrm>
        </p:grpSpPr>
        <p:sp>
          <p:nvSpPr>
            <p:cNvPr name="Freeform 26" id="26"/>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27" id="27"/>
          <p:cNvGrpSpPr/>
          <p:nvPr/>
        </p:nvGrpSpPr>
        <p:grpSpPr>
          <a:xfrm rot="0">
            <a:off x="16148733" y="8595227"/>
            <a:ext cx="2840507" cy="2623918"/>
            <a:chOff x="0" y="0"/>
            <a:chExt cx="3787343" cy="3498558"/>
          </a:xfrm>
        </p:grpSpPr>
        <p:sp>
          <p:nvSpPr>
            <p:cNvPr name="Freeform 28" id="28"/>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29" id="29"/>
          <p:cNvGrpSpPr/>
          <p:nvPr/>
        </p:nvGrpSpPr>
        <p:grpSpPr>
          <a:xfrm rot="735120">
            <a:off x="17362484" y="6511642"/>
            <a:ext cx="2136486" cy="1973580"/>
            <a:chOff x="0" y="0"/>
            <a:chExt cx="2848648" cy="2631440"/>
          </a:xfrm>
        </p:grpSpPr>
        <p:sp>
          <p:nvSpPr>
            <p:cNvPr name="Freeform 30" id="30"/>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31" id="31"/>
          <p:cNvGrpSpPr/>
          <p:nvPr/>
        </p:nvGrpSpPr>
        <p:grpSpPr>
          <a:xfrm rot="3880920">
            <a:off x="-1282960" y="931545"/>
            <a:ext cx="2769803" cy="4228700"/>
            <a:chOff x="0" y="0"/>
            <a:chExt cx="3693071" cy="5638267"/>
          </a:xfrm>
        </p:grpSpPr>
        <p:sp>
          <p:nvSpPr>
            <p:cNvPr name="Freeform 32" id="32"/>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33" id="33"/>
          <p:cNvGrpSpPr/>
          <p:nvPr/>
        </p:nvGrpSpPr>
        <p:grpSpPr>
          <a:xfrm rot="2700000">
            <a:off x="-860574" y="-1642481"/>
            <a:ext cx="1568015" cy="3957142"/>
            <a:chOff x="0" y="0"/>
            <a:chExt cx="2090687" cy="5276190"/>
          </a:xfrm>
        </p:grpSpPr>
        <p:sp>
          <p:nvSpPr>
            <p:cNvPr name="Freeform 34" id="34"/>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35" id="35"/>
          <p:cNvGrpSpPr/>
          <p:nvPr/>
        </p:nvGrpSpPr>
        <p:grpSpPr>
          <a:xfrm rot="8862360">
            <a:off x="1207656" y="-2827811"/>
            <a:ext cx="4757814" cy="4634027"/>
            <a:chOff x="0" y="0"/>
            <a:chExt cx="6343752" cy="6178702"/>
          </a:xfrm>
        </p:grpSpPr>
        <p:sp>
          <p:nvSpPr>
            <p:cNvPr name="Freeform 36" id="36"/>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37" id="37"/>
          <p:cNvGrpSpPr/>
          <p:nvPr/>
        </p:nvGrpSpPr>
        <p:grpSpPr>
          <a:xfrm rot="0">
            <a:off x="13049650" y="-3998900"/>
            <a:ext cx="7220312" cy="6949554"/>
            <a:chOff x="0" y="0"/>
            <a:chExt cx="9627083" cy="9266072"/>
          </a:xfrm>
        </p:grpSpPr>
        <p:sp>
          <p:nvSpPr>
            <p:cNvPr name="Freeform 38" id="38"/>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39" id="39"/>
          <p:cNvGrpSpPr/>
          <p:nvPr/>
        </p:nvGrpSpPr>
        <p:grpSpPr>
          <a:xfrm rot="0">
            <a:off x="-360931" y="8149885"/>
            <a:ext cx="3189446" cy="7187489"/>
            <a:chOff x="0" y="0"/>
            <a:chExt cx="4252595" cy="9583318"/>
          </a:xfrm>
        </p:grpSpPr>
        <p:sp>
          <p:nvSpPr>
            <p:cNvPr name="Freeform 40" id="40"/>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sp>
        <p:nvSpPr>
          <p:cNvPr name="TextBox 41" id="41"/>
          <p:cNvSpPr txBox="true"/>
          <p:nvPr/>
        </p:nvSpPr>
        <p:spPr>
          <a:xfrm rot="0">
            <a:off x="-76562" y="4347705"/>
            <a:ext cx="15547048" cy="4247512"/>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1 Bold"/>
                <a:ea typeface="Canva Sans 1 Bold"/>
                <a:cs typeface="Canva Sans 1 Bold"/>
                <a:sym typeface="Canva Sans 1 Bold"/>
              </a:rPr>
              <a:t>Like;                                                                           </a:t>
            </a:r>
          </a:p>
          <a:p>
            <a:pPr algn="ctr">
              <a:lnSpc>
                <a:spcPts val="4759"/>
              </a:lnSpc>
            </a:pPr>
            <a:r>
              <a:rPr lang="en-US" sz="3399" b="true">
                <a:solidFill>
                  <a:srgbClr val="000000"/>
                </a:solidFill>
                <a:latin typeface="Canva Sans 1 Bold"/>
                <a:ea typeface="Canva Sans 1 Bold"/>
                <a:cs typeface="Canva Sans 1 Bold"/>
                <a:sym typeface="Canva Sans 1 Bold"/>
              </a:rPr>
              <a:t>- I want to talk?                           </a:t>
            </a:r>
          </a:p>
          <a:p>
            <a:pPr algn="ctr">
              <a:lnSpc>
                <a:spcPts val="4759"/>
              </a:lnSpc>
            </a:pPr>
            <a:r>
              <a:rPr lang="en-US" sz="3399" b="true">
                <a:solidFill>
                  <a:srgbClr val="000000"/>
                </a:solidFill>
                <a:latin typeface="Canva Sans 1 Bold"/>
                <a:ea typeface="Canva Sans 1 Bold"/>
                <a:cs typeface="Canva Sans 1 Bold"/>
                <a:sym typeface="Canva Sans 1 Bold"/>
              </a:rPr>
              <a:t>- I want to calm down myself</a:t>
            </a:r>
          </a:p>
          <a:p>
            <a:pPr algn="ctr">
              <a:lnSpc>
                <a:spcPts val="4759"/>
              </a:lnSpc>
            </a:pPr>
            <a:r>
              <a:rPr lang="en-US" sz="3399" b="true">
                <a:solidFill>
                  <a:srgbClr val="000000"/>
                </a:solidFill>
                <a:latin typeface="Canva Sans 1 Bold"/>
                <a:ea typeface="Canva Sans 1 Bold"/>
                <a:cs typeface="Canva Sans 1 Bold"/>
                <a:sym typeface="Canva Sans 1 Bold"/>
              </a:rPr>
              <a:t>-I feel lonely                               </a:t>
            </a:r>
          </a:p>
          <a:p>
            <a:pPr algn="ctr">
              <a:lnSpc>
                <a:spcPts val="4759"/>
              </a:lnSpc>
            </a:pPr>
            <a:r>
              <a:rPr lang="en-US" sz="3399" b="true">
                <a:solidFill>
                  <a:srgbClr val="000000"/>
                </a:solidFill>
                <a:latin typeface="Canva Sans 1 Bold"/>
                <a:ea typeface="Canva Sans 1 Bold"/>
                <a:cs typeface="Canva Sans 1 Bold"/>
                <a:sym typeface="Canva Sans 1 Bold"/>
              </a:rPr>
              <a:t>- I`m stressed about studies</a:t>
            </a:r>
          </a:p>
          <a:p>
            <a:pPr algn="ctr">
              <a:lnSpc>
                <a:spcPts val="4759"/>
              </a:lnSpc>
            </a:pPr>
            <a:r>
              <a:rPr lang="en-US" sz="3399" b="true">
                <a:solidFill>
                  <a:srgbClr val="000000"/>
                </a:solidFill>
                <a:latin typeface="Canva Sans 1 Bold"/>
                <a:ea typeface="Canva Sans 1 Bold"/>
                <a:cs typeface="Canva Sans 1 Bold"/>
                <a:sym typeface="Canva Sans 1 Bold"/>
              </a:rPr>
              <a:t>- I`m exhaused                           </a:t>
            </a:r>
          </a:p>
          <a:p>
            <a:pPr algn="ctr">
              <a:lnSpc>
                <a:spcPts val="4759"/>
              </a:lnSpc>
            </a:pPr>
            <a:r>
              <a:rPr lang="en-US" sz="3399" b="true">
                <a:solidFill>
                  <a:srgbClr val="000000"/>
                </a:solidFill>
                <a:latin typeface="Canva Sans 1 Bold"/>
                <a:ea typeface="Canva Sans 1 Bold"/>
                <a:cs typeface="Canva Sans 1 Bold"/>
                <a:sym typeface="Canva Sans 1 Bold"/>
              </a:rPr>
              <a:t>- I just need motivation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0">
            <a:off x="15487812" y="-4650419"/>
            <a:ext cx="3083862" cy="6949554"/>
            <a:chOff x="0" y="0"/>
            <a:chExt cx="4111816" cy="9266072"/>
          </a:xfrm>
        </p:grpSpPr>
        <p:sp>
          <p:nvSpPr>
            <p:cNvPr name="Freeform 5" id="5"/>
            <p:cNvSpPr/>
            <p:nvPr/>
          </p:nvSpPr>
          <p:spPr>
            <a:xfrm flipH="false" flipV="true" rot="0">
              <a:off x="0" y="0"/>
              <a:ext cx="4111879" cy="9266047"/>
            </a:xfrm>
            <a:custGeom>
              <a:avLst/>
              <a:gdLst/>
              <a:ahLst/>
              <a:cxnLst/>
              <a:rect r="r" b="b" t="t" l="l"/>
              <a:pathLst>
                <a:path h="9266047" w="4111879">
                  <a:moveTo>
                    <a:pt x="0" y="9266047"/>
                  </a:moveTo>
                  <a:lnTo>
                    <a:pt x="4111879" y="9266047"/>
                  </a:lnTo>
                  <a:lnTo>
                    <a:pt x="4111879" y="0"/>
                  </a:lnTo>
                  <a:lnTo>
                    <a:pt x="0" y="0"/>
                  </a:lnTo>
                  <a:lnTo>
                    <a:pt x="0" y="9266047"/>
                  </a:lnTo>
                  <a:close/>
                </a:path>
              </a:pathLst>
            </a:custGeom>
            <a:blipFill>
              <a:blip r:embed="rId3"/>
              <a:stretch>
                <a:fillRect l="-113" t="0" r="-112" b="0"/>
              </a:stretch>
            </a:blipFill>
          </p:spPr>
        </p:sp>
      </p:grpSp>
      <p:grpSp>
        <p:nvGrpSpPr>
          <p:cNvPr name="Group 6" id="6"/>
          <p:cNvGrpSpPr/>
          <p:nvPr/>
        </p:nvGrpSpPr>
        <p:grpSpPr>
          <a:xfrm rot="-5400000">
            <a:off x="13683463" y="9258300"/>
            <a:ext cx="2902991" cy="3303546"/>
            <a:chOff x="0" y="0"/>
            <a:chExt cx="3870655" cy="4404728"/>
          </a:xfrm>
        </p:grpSpPr>
        <p:sp>
          <p:nvSpPr>
            <p:cNvPr name="Freeform 7" id="7"/>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4"/>
              <a:stretch>
                <a:fillRect l="-25" t="0" r="-23" b="0"/>
              </a:stretch>
            </a:blipFill>
          </p:spPr>
        </p:sp>
      </p:grpSp>
      <p:grpSp>
        <p:nvGrpSpPr>
          <p:cNvPr name="Group 8" id="8"/>
          <p:cNvGrpSpPr/>
          <p:nvPr/>
        </p:nvGrpSpPr>
        <p:grpSpPr>
          <a:xfrm rot="0">
            <a:off x="15996333" y="8442827"/>
            <a:ext cx="2840507" cy="2623918"/>
            <a:chOff x="0" y="0"/>
            <a:chExt cx="3787343" cy="3498558"/>
          </a:xfrm>
        </p:grpSpPr>
        <p:sp>
          <p:nvSpPr>
            <p:cNvPr name="Freeform 9" id="9"/>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5"/>
              <a:stretch>
                <a:fillRect l="-22" t="0" r="-21" b="1"/>
              </a:stretch>
            </a:blipFill>
          </p:spPr>
        </p:sp>
      </p:grpSp>
      <p:grpSp>
        <p:nvGrpSpPr>
          <p:cNvPr name="Group 10" id="10"/>
          <p:cNvGrpSpPr/>
          <p:nvPr/>
        </p:nvGrpSpPr>
        <p:grpSpPr>
          <a:xfrm rot="735120">
            <a:off x="17210084" y="6359242"/>
            <a:ext cx="2136486" cy="1973580"/>
            <a:chOff x="0" y="0"/>
            <a:chExt cx="2848648" cy="2631440"/>
          </a:xfrm>
        </p:grpSpPr>
        <p:sp>
          <p:nvSpPr>
            <p:cNvPr name="Freeform 11" id="11"/>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5"/>
              <a:stretch>
                <a:fillRect l="-22" t="0" r="-23" b="0"/>
              </a:stretch>
            </a:blipFill>
          </p:spPr>
        </p:sp>
      </p:grpSp>
      <p:grpSp>
        <p:nvGrpSpPr>
          <p:cNvPr name="Group 12" id="12"/>
          <p:cNvGrpSpPr/>
          <p:nvPr/>
        </p:nvGrpSpPr>
        <p:grpSpPr>
          <a:xfrm rot="3880920">
            <a:off x="-1435360" y="779145"/>
            <a:ext cx="2769803" cy="4228700"/>
            <a:chOff x="0" y="0"/>
            <a:chExt cx="3693071" cy="5638267"/>
          </a:xfrm>
        </p:grpSpPr>
        <p:sp>
          <p:nvSpPr>
            <p:cNvPr name="Freeform 13" id="13"/>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6"/>
              <a:stretch>
                <a:fillRect l="0" t="-25" r="-1" b="-25"/>
              </a:stretch>
            </a:blipFill>
          </p:spPr>
        </p:sp>
      </p:grpSp>
      <p:grpSp>
        <p:nvGrpSpPr>
          <p:cNvPr name="Group 14" id="14"/>
          <p:cNvGrpSpPr/>
          <p:nvPr/>
        </p:nvGrpSpPr>
        <p:grpSpPr>
          <a:xfrm rot="2700000">
            <a:off x="-1012974" y="-1794881"/>
            <a:ext cx="1568015" cy="3957142"/>
            <a:chOff x="0" y="0"/>
            <a:chExt cx="2090687" cy="5276190"/>
          </a:xfrm>
        </p:grpSpPr>
        <p:sp>
          <p:nvSpPr>
            <p:cNvPr name="Freeform 15" id="15"/>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7"/>
              <a:stretch>
                <a:fillRect l="-29" t="0" r="-29" b="0"/>
              </a:stretch>
            </a:blipFill>
          </p:spPr>
        </p:sp>
      </p:grpSp>
      <p:grpSp>
        <p:nvGrpSpPr>
          <p:cNvPr name="Group 16" id="16"/>
          <p:cNvGrpSpPr/>
          <p:nvPr/>
        </p:nvGrpSpPr>
        <p:grpSpPr>
          <a:xfrm rot="8862360">
            <a:off x="1055256" y="-2980211"/>
            <a:ext cx="4757814" cy="4634027"/>
            <a:chOff x="0" y="0"/>
            <a:chExt cx="6343752" cy="6178702"/>
          </a:xfrm>
        </p:grpSpPr>
        <p:sp>
          <p:nvSpPr>
            <p:cNvPr name="Freeform 17" id="17"/>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8"/>
              <a:stretch>
                <a:fillRect l="-42" t="0" r="-41" b="0"/>
              </a:stretch>
            </a:blipFill>
          </p:spPr>
        </p:sp>
      </p:grpSp>
      <p:grpSp>
        <p:nvGrpSpPr>
          <p:cNvPr name="Group 18" id="18"/>
          <p:cNvGrpSpPr/>
          <p:nvPr/>
        </p:nvGrpSpPr>
        <p:grpSpPr>
          <a:xfrm rot="0">
            <a:off x="12897250" y="-4151300"/>
            <a:ext cx="7220312" cy="6949554"/>
            <a:chOff x="0" y="0"/>
            <a:chExt cx="9627083" cy="9266072"/>
          </a:xfrm>
        </p:grpSpPr>
        <p:sp>
          <p:nvSpPr>
            <p:cNvPr name="Freeform 19" id="19"/>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9"/>
              <a:stretch>
                <a:fillRect l="0" t="-18" r="0" b="-18"/>
              </a:stretch>
            </a:blipFill>
          </p:spPr>
        </p:sp>
      </p:grpSp>
      <p:grpSp>
        <p:nvGrpSpPr>
          <p:cNvPr name="Group 20" id="20"/>
          <p:cNvGrpSpPr/>
          <p:nvPr/>
        </p:nvGrpSpPr>
        <p:grpSpPr>
          <a:xfrm rot="0">
            <a:off x="-513331" y="7997485"/>
            <a:ext cx="3189446" cy="7187489"/>
            <a:chOff x="0" y="0"/>
            <a:chExt cx="4252595" cy="9583318"/>
          </a:xfrm>
        </p:grpSpPr>
        <p:sp>
          <p:nvSpPr>
            <p:cNvPr name="Freeform 21" id="21"/>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3"/>
              <a:stretch>
                <a:fillRect l="-114" t="0" r="-114" b="0"/>
              </a:stretch>
            </a:blipFill>
          </p:spPr>
        </p:sp>
      </p:grpSp>
      <p:grpSp>
        <p:nvGrpSpPr>
          <p:cNvPr name="Group 22" id="22"/>
          <p:cNvGrpSpPr/>
          <p:nvPr/>
        </p:nvGrpSpPr>
        <p:grpSpPr>
          <a:xfrm rot="-5400000">
            <a:off x="13835863" y="9410700"/>
            <a:ext cx="2902991" cy="3303546"/>
            <a:chOff x="0" y="0"/>
            <a:chExt cx="3870655" cy="4404728"/>
          </a:xfrm>
        </p:grpSpPr>
        <p:sp>
          <p:nvSpPr>
            <p:cNvPr name="Freeform 23" id="23"/>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4"/>
              <a:stretch>
                <a:fillRect l="-25" t="0" r="-23" b="0"/>
              </a:stretch>
            </a:blipFill>
          </p:spPr>
        </p:sp>
      </p:grpSp>
      <p:grpSp>
        <p:nvGrpSpPr>
          <p:cNvPr name="Group 24" id="24"/>
          <p:cNvGrpSpPr/>
          <p:nvPr/>
        </p:nvGrpSpPr>
        <p:grpSpPr>
          <a:xfrm rot="0">
            <a:off x="16148733" y="8595227"/>
            <a:ext cx="2840507" cy="2623918"/>
            <a:chOff x="0" y="0"/>
            <a:chExt cx="3787343" cy="3498558"/>
          </a:xfrm>
        </p:grpSpPr>
        <p:sp>
          <p:nvSpPr>
            <p:cNvPr name="Freeform 25" id="25"/>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5"/>
              <a:stretch>
                <a:fillRect l="-22" t="0" r="-21" b="1"/>
              </a:stretch>
            </a:blipFill>
          </p:spPr>
        </p:sp>
      </p:grpSp>
      <p:grpSp>
        <p:nvGrpSpPr>
          <p:cNvPr name="Group 26" id="26"/>
          <p:cNvGrpSpPr/>
          <p:nvPr/>
        </p:nvGrpSpPr>
        <p:grpSpPr>
          <a:xfrm rot="735120">
            <a:off x="17362484" y="6511642"/>
            <a:ext cx="2136486" cy="1973580"/>
            <a:chOff x="0" y="0"/>
            <a:chExt cx="2848648" cy="2631440"/>
          </a:xfrm>
        </p:grpSpPr>
        <p:sp>
          <p:nvSpPr>
            <p:cNvPr name="Freeform 27" id="27"/>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5"/>
              <a:stretch>
                <a:fillRect l="-22" t="0" r="-23" b="0"/>
              </a:stretch>
            </a:blipFill>
          </p:spPr>
        </p:sp>
      </p:grpSp>
      <p:grpSp>
        <p:nvGrpSpPr>
          <p:cNvPr name="Group 28" id="28"/>
          <p:cNvGrpSpPr/>
          <p:nvPr/>
        </p:nvGrpSpPr>
        <p:grpSpPr>
          <a:xfrm rot="3880920">
            <a:off x="-1282960" y="931545"/>
            <a:ext cx="2769803" cy="4228700"/>
            <a:chOff x="0" y="0"/>
            <a:chExt cx="3693071" cy="5638267"/>
          </a:xfrm>
        </p:grpSpPr>
        <p:sp>
          <p:nvSpPr>
            <p:cNvPr name="Freeform 29" id="29"/>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6"/>
              <a:stretch>
                <a:fillRect l="0" t="-25" r="-1" b="-25"/>
              </a:stretch>
            </a:blipFill>
          </p:spPr>
        </p:sp>
      </p:grpSp>
      <p:grpSp>
        <p:nvGrpSpPr>
          <p:cNvPr name="Group 30" id="30"/>
          <p:cNvGrpSpPr/>
          <p:nvPr/>
        </p:nvGrpSpPr>
        <p:grpSpPr>
          <a:xfrm rot="2700000">
            <a:off x="-860574" y="-1642481"/>
            <a:ext cx="1568015" cy="3957142"/>
            <a:chOff x="0" y="0"/>
            <a:chExt cx="2090687" cy="5276190"/>
          </a:xfrm>
        </p:grpSpPr>
        <p:sp>
          <p:nvSpPr>
            <p:cNvPr name="Freeform 31" id="31"/>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7"/>
              <a:stretch>
                <a:fillRect l="-29" t="0" r="-29" b="0"/>
              </a:stretch>
            </a:blipFill>
          </p:spPr>
        </p:sp>
      </p:grpSp>
      <p:grpSp>
        <p:nvGrpSpPr>
          <p:cNvPr name="Group 32" id="32"/>
          <p:cNvGrpSpPr/>
          <p:nvPr/>
        </p:nvGrpSpPr>
        <p:grpSpPr>
          <a:xfrm rot="8862360">
            <a:off x="1207656" y="-2827811"/>
            <a:ext cx="4757814" cy="4634027"/>
            <a:chOff x="0" y="0"/>
            <a:chExt cx="6343752" cy="6178702"/>
          </a:xfrm>
        </p:grpSpPr>
        <p:sp>
          <p:nvSpPr>
            <p:cNvPr name="Freeform 33" id="33"/>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8"/>
              <a:stretch>
                <a:fillRect l="-42" t="0" r="-41" b="0"/>
              </a:stretch>
            </a:blipFill>
          </p:spPr>
        </p:sp>
      </p:grpSp>
      <p:grpSp>
        <p:nvGrpSpPr>
          <p:cNvPr name="Group 34" id="34"/>
          <p:cNvGrpSpPr/>
          <p:nvPr/>
        </p:nvGrpSpPr>
        <p:grpSpPr>
          <a:xfrm rot="0">
            <a:off x="13049650" y="-3998900"/>
            <a:ext cx="7220312" cy="6949554"/>
            <a:chOff x="0" y="0"/>
            <a:chExt cx="9627083" cy="9266072"/>
          </a:xfrm>
        </p:grpSpPr>
        <p:sp>
          <p:nvSpPr>
            <p:cNvPr name="Freeform 35" id="35"/>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9"/>
              <a:stretch>
                <a:fillRect l="0" t="-18" r="0" b="-18"/>
              </a:stretch>
            </a:blipFill>
          </p:spPr>
        </p:sp>
      </p:grpSp>
      <p:grpSp>
        <p:nvGrpSpPr>
          <p:cNvPr name="Group 36" id="36"/>
          <p:cNvGrpSpPr/>
          <p:nvPr/>
        </p:nvGrpSpPr>
        <p:grpSpPr>
          <a:xfrm rot="0">
            <a:off x="-360931" y="8149885"/>
            <a:ext cx="3189446" cy="7187489"/>
            <a:chOff x="0" y="0"/>
            <a:chExt cx="4252595" cy="9583318"/>
          </a:xfrm>
        </p:grpSpPr>
        <p:sp>
          <p:nvSpPr>
            <p:cNvPr name="Freeform 37" id="37"/>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3"/>
              <a:stretch>
                <a:fillRect l="-114" t="0" r="-114" b="0"/>
              </a:stretch>
            </a:blipFill>
          </p:spPr>
        </p:sp>
      </p:grpSp>
      <p:grpSp>
        <p:nvGrpSpPr>
          <p:cNvPr name="Group 38" id="38"/>
          <p:cNvGrpSpPr/>
          <p:nvPr/>
        </p:nvGrpSpPr>
        <p:grpSpPr>
          <a:xfrm rot="-5400000">
            <a:off x="13988263" y="9563100"/>
            <a:ext cx="2902991" cy="3303546"/>
            <a:chOff x="0" y="0"/>
            <a:chExt cx="3870655" cy="4404728"/>
          </a:xfrm>
        </p:grpSpPr>
        <p:sp>
          <p:nvSpPr>
            <p:cNvPr name="Freeform 39" id="39"/>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4"/>
              <a:stretch>
                <a:fillRect l="-25" t="0" r="-23" b="0"/>
              </a:stretch>
            </a:blipFill>
          </p:spPr>
        </p:sp>
      </p:grpSp>
      <p:grpSp>
        <p:nvGrpSpPr>
          <p:cNvPr name="Group 40" id="40"/>
          <p:cNvGrpSpPr/>
          <p:nvPr/>
        </p:nvGrpSpPr>
        <p:grpSpPr>
          <a:xfrm rot="0">
            <a:off x="16301133" y="8747627"/>
            <a:ext cx="2840507" cy="2623918"/>
            <a:chOff x="0" y="0"/>
            <a:chExt cx="3787343" cy="3498558"/>
          </a:xfrm>
        </p:grpSpPr>
        <p:sp>
          <p:nvSpPr>
            <p:cNvPr name="Freeform 41" id="41"/>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5"/>
              <a:stretch>
                <a:fillRect l="-22" t="0" r="-21" b="1"/>
              </a:stretch>
            </a:blipFill>
          </p:spPr>
        </p:sp>
      </p:grpSp>
      <p:grpSp>
        <p:nvGrpSpPr>
          <p:cNvPr name="Group 42" id="42"/>
          <p:cNvGrpSpPr/>
          <p:nvPr/>
        </p:nvGrpSpPr>
        <p:grpSpPr>
          <a:xfrm rot="735120">
            <a:off x="17514884" y="6664042"/>
            <a:ext cx="2136486" cy="1973580"/>
            <a:chOff x="0" y="0"/>
            <a:chExt cx="2848648" cy="2631440"/>
          </a:xfrm>
        </p:grpSpPr>
        <p:sp>
          <p:nvSpPr>
            <p:cNvPr name="Freeform 43" id="43"/>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5"/>
              <a:stretch>
                <a:fillRect l="-22" t="0" r="-23" b="0"/>
              </a:stretch>
            </a:blipFill>
          </p:spPr>
        </p:sp>
      </p:grpSp>
      <p:grpSp>
        <p:nvGrpSpPr>
          <p:cNvPr name="Group 44" id="44"/>
          <p:cNvGrpSpPr/>
          <p:nvPr/>
        </p:nvGrpSpPr>
        <p:grpSpPr>
          <a:xfrm rot="3880920">
            <a:off x="-1130560" y="1083945"/>
            <a:ext cx="2769803" cy="4228700"/>
            <a:chOff x="0" y="0"/>
            <a:chExt cx="3693071" cy="5638267"/>
          </a:xfrm>
        </p:grpSpPr>
        <p:sp>
          <p:nvSpPr>
            <p:cNvPr name="Freeform 45" id="45"/>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6"/>
              <a:stretch>
                <a:fillRect l="0" t="-25" r="-1" b="-25"/>
              </a:stretch>
            </a:blipFill>
          </p:spPr>
        </p:sp>
      </p:grpSp>
      <p:grpSp>
        <p:nvGrpSpPr>
          <p:cNvPr name="Group 46" id="46"/>
          <p:cNvGrpSpPr/>
          <p:nvPr/>
        </p:nvGrpSpPr>
        <p:grpSpPr>
          <a:xfrm rot="2700000">
            <a:off x="-708174" y="-1490081"/>
            <a:ext cx="1568015" cy="3957142"/>
            <a:chOff x="0" y="0"/>
            <a:chExt cx="2090687" cy="5276190"/>
          </a:xfrm>
        </p:grpSpPr>
        <p:sp>
          <p:nvSpPr>
            <p:cNvPr name="Freeform 47" id="47"/>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7"/>
              <a:stretch>
                <a:fillRect l="-29" t="0" r="-29" b="0"/>
              </a:stretch>
            </a:blipFill>
          </p:spPr>
        </p:sp>
      </p:grpSp>
      <p:grpSp>
        <p:nvGrpSpPr>
          <p:cNvPr name="Group 48" id="48"/>
          <p:cNvGrpSpPr/>
          <p:nvPr/>
        </p:nvGrpSpPr>
        <p:grpSpPr>
          <a:xfrm rot="8862360">
            <a:off x="1360056" y="-2675411"/>
            <a:ext cx="4757814" cy="4634027"/>
            <a:chOff x="0" y="0"/>
            <a:chExt cx="6343752" cy="6178702"/>
          </a:xfrm>
        </p:grpSpPr>
        <p:sp>
          <p:nvSpPr>
            <p:cNvPr name="Freeform 49" id="49"/>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8"/>
              <a:stretch>
                <a:fillRect l="-42" t="0" r="-41" b="0"/>
              </a:stretch>
            </a:blipFill>
          </p:spPr>
        </p:sp>
      </p:grpSp>
      <p:grpSp>
        <p:nvGrpSpPr>
          <p:cNvPr name="Group 50" id="50"/>
          <p:cNvGrpSpPr/>
          <p:nvPr/>
        </p:nvGrpSpPr>
        <p:grpSpPr>
          <a:xfrm rot="0">
            <a:off x="13202050" y="-3846500"/>
            <a:ext cx="7220312" cy="6949554"/>
            <a:chOff x="0" y="0"/>
            <a:chExt cx="9627083" cy="9266072"/>
          </a:xfrm>
        </p:grpSpPr>
        <p:sp>
          <p:nvSpPr>
            <p:cNvPr name="Freeform 51" id="51"/>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9"/>
              <a:stretch>
                <a:fillRect l="0" t="-18" r="0" b="-18"/>
              </a:stretch>
            </a:blipFill>
          </p:spPr>
        </p:sp>
      </p:grpSp>
      <p:grpSp>
        <p:nvGrpSpPr>
          <p:cNvPr name="Group 52" id="52"/>
          <p:cNvGrpSpPr/>
          <p:nvPr/>
        </p:nvGrpSpPr>
        <p:grpSpPr>
          <a:xfrm rot="0">
            <a:off x="-208531" y="8302285"/>
            <a:ext cx="3189446" cy="7187489"/>
            <a:chOff x="0" y="0"/>
            <a:chExt cx="4252595" cy="9583318"/>
          </a:xfrm>
        </p:grpSpPr>
        <p:sp>
          <p:nvSpPr>
            <p:cNvPr name="Freeform 53" id="53"/>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3"/>
              <a:stretch>
                <a:fillRect l="-114" t="0" r="-114" b="0"/>
              </a:stretch>
            </a:blipFill>
          </p:spPr>
        </p:sp>
      </p:grpSp>
      <p:sp>
        <p:nvSpPr>
          <p:cNvPr name="TextBox 54" id="54"/>
          <p:cNvSpPr txBox="true"/>
          <p:nvPr/>
        </p:nvSpPr>
        <p:spPr>
          <a:xfrm rot="0">
            <a:off x="-513331" y="1332033"/>
            <a:ext cx="18602858" cy="2165347"/>
          </a:xfrm>
          <a:prstGeom prst="rect">
            <a:avLst/>
          </a:prstGeom>
        </p:spPr>
        <p:txBody>
          <a:bodyPr anchor="t" rtlCol="false" tIns="0" lIns="0" bIns="0" rIns="0">
            <a:spAutoFit/>
          </a:bodyPr>
          <a:lstStyle/>
          <a:p>
            <a:pPr algn="ctr">
              <a:lnSpc>
                <a:spcPts val="5598"/>
              </a:lnSpc>
            </a:pPr>
            <a:r>
              <a:rPr lang="en-US" sz="3999">
                <a:solidFill>
                  <a:srgbClr val="FF952E"/>
                </a:solidFill>
                <a:latin typeface="Canva Sans 1"/>
                <a:ea typeface="Canva Sans 1"/>
                <a:cs typeface="Canva Sans 1"/>
                <a:sym typeface="Canva Sans 1"/>
              </a:rPr>
              <a:t>It, also gives a 2 min sukoon features.</a:t>
            </a:r>
          </a:p>
          <a:p>
            <a:pPr algn="ctr">
              <a:lnSpc>
                <a:spcPts val="5598"/>
              </a:lnSpc>
            </a:pPr>
            <a:r>
              <a:rPr lang="en-US" sz="3999">
                <a:solidFill>
                  <a:srgbClr val="FF952E"/>
                </a:solidFill>
                <a:latin typeface="Canva Sans 1"/>
                <a:ea typeface="Canva Sans 1"/>
                <a:cs typeface="Canva Sans 1"/>
                <a:sym typeface="Canva Sans 1"/>
              </a:rPr>
              <a:t>( A button- give 2 min sukoon)</a:t>
            </a:r>
          </a:p>
          <a:p>
            <a:pPr algn="ctr">
              <a:lnSpc>
                <a:spcPts val="5598"/>
              </a:lnSpc>
            </a:pPr>
            <a:r>
              <a:rPr lang="en-US" sz="3999">
                <a:solidFill>
                  <a:srgbClr val="AF0505"/>
                </a:solidFill>
                <a:latin typeface="Canva Sans 1"/>
                <a:ea typeface="Canva Sans 1"/>
                <a:cs typeface="Canva Sans 1"/>
                <a:sym typeface="Canva Sans 1"/>
              </a:rPr>
              <a:t>* BREATHE - RELAX - REFLECT - RESET</a:t>
            </a:r>
          </a:p>
        </p:txBody>
      </p:sp>
      <p:sp>
        <p:nvSpPr>
          <p:cNvPr name="TextBox 55" id="55"/>
          <p:cNvSpPr txBox="true"/>
          <p:nvPr/>
        </p:nvSpPr>
        <p:spPr>
          <a:xfrm rot="0">
            <a:off x="1185091" y="4594327"/>
            <a:ext cx="15917828" cy="4780889"/>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1 Bold"/>
                <a:ea typeface="Canva Sans 1 Bold"/>
                <a:cs typeface="Canva Sans 1 Bold"/>
                <a:sym typeface="Canva Sans 1 Bold"/>
              </a:rPr>
              <a:t>also, gives some motivattional quote in the end based on the score card like;</a:t>
            </a:r>
          </a:p>
          <a:p>
            <a:pPr algn="ctr">
              <a:lnSpc>
                <a:spcPts val="4759"/>
              </a:lnSpc>
            </a:pPr>
          </a:p>
          <a:p>
            <a:pPr algn="ctr">
              <a:lnSpc>
                <a:spcPts val="4759"/>
              </a:lnSpc>
            </a:pPr>
            <a:r>
              <a:rPr lang="en-US" sz="3399" b="true">
                <a:solidFill>
                  <a:srgbClr val="000000"/>
                </a:solidFill>
                <a:latin typeface="Canva Sans 1 Bold"/>
                <a:ea typeface="Canva Sans 1 Bold"/>
                <a:cs typeface="Canva Sans 1 Bold"/>
                <a:sym typeface="Canva Sans 1 Bold"/>
              </a:rPr>
              <a:t>= asking for help is the sign of the strength </a:t>
            </a:r>
          </a:p>
          <a:p>
            <a:pPr algn="ctr">
              <a:lnSpc>
                <a:spcPts val="4759"/>
              </a:lnSpc>
            </a:pPr>
          </a:p>
          <a:p>
            <a:pPr algn="ctr">
              <a:lnSpc>
                <a:spcPts val="4759"/>
              </a:lnSpc>
            </a:pPr>
            <a:r>
              <a:rPr lang="en-US" sz="3399" b="true">
                <a:solidFill>
                  <a:srgbClr val="000000"/>
                </a:solidFill>
                <a:latin typeface="Canva Sans 1 Bold"/>
                <a:ea typeface="Canva Sans 1 Bold"/>
                <a:cs typeface="Canva Sans 1 Bold"/>
                <a:sym typeface="Canva Sans 1 Bold"/>
              </a:rPr>
              <a:t>= One bad day doesn`t mean the bad life</a:t>
            </a:r>
          </a:p>
          <a:p>
            <a:pPr algn="ctr">
              <a:lnSpc>
                <a:spcPts val="4759"/>
              </a:lnSpc>
            </a:pPr>
          </a:p>
          <a:p>
            <a:pPr algn="ctr">
              <a:lnSpc>
                <a:spcPts val="4759"/>
              </a:lnSpc>
            </a:pPr>
            <a:r>
              <a:rPr lang="en-US" sz="3399" b="true">
                <a:solidFill>
                  <a:srgbClr val="000000"/>
                </a:solidFill>
                <a:latin typeface="Canva Sans 1 Bold"/>
                <a:ea typeface="Canva Sans 1 Bold"/>
                <a:cs typeface="Canva Sans 1 Bold"/>
                <a:sym typeface="Canva Sans 1 Bold"/>
              </a:rPr>
              <a:t>=You don`t have to productive every minute.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835863" y="94107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6301133" y="87476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514884" y="66640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130560" y="10839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708174" y="-14900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360056" y="-26754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3202050" y="-38465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08531" y="8302285"/>
            <a:ext cx="3189446" cy="7187489"/>
            <a:chOff x="0" y="0"/>
            <a:chExt cx="4252595" cy="9583318"/>
          </a:xfrm>
        </p:grpSpPr>
        <p:sp>
          <p:nvSpPr>
            <p:cNvPr name="Freeform 19" id="19"/>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sp>
        <p:nvSpPr>
          <p:cNvPr name="TextBox 20" id="20"/>
          <p:cNvSpPr txBox="true"/>
          <p:nvPr/>
        </p:nvSpPr>
        <p:spPr>
          <a:xfrm rot="0">
            <a:off x="1386192" y="187766"/>
            <a:ext cx="16649938" cy="982342"/>
          </a:xfrm>
          <a:prstGeom prst="rect">
            <a:avLst/>
          </a:prstGeom>
        </p:spPr>
        <p:txBody>
          <a:bodyPr anchor="t" rtlCol="false" tIns="0" lIns="0" bIns="0" rIns="0">
            <a:spAutoFit/>
          </a:bodyPr>
          <a:lstStyle/>
          <a:p>
            <a:pPr algn="ctr">
              <a:lnSpc>
                <a:spcPts val="7279"/>
              </a:lnSpc>
            </a:pPr>
            <a:r>
              <a:rPr lang="en-US" sz="5198" b="true">
                <a:solidFill>
                  <a:srgbClr val="000000"/>
                </a:solidFill>
                <a:latin typeface="Canva Sans 1 Bold"/>
                <a:ea typeface="Canva Sans 1 Bold"/>
                <a:cs typeface="Canva Sans 1 Bold"/>
                <a:sym typeface="Canva Sans 1 Bold"/>
              </a:rPr>
              <a:t>Things to be added in the university for this project;</a:t>
            </a:r>
          </a:p>
        </p:txBody>
      </p:sp>
      <p:sp>
        <p:nvSpPr>
          <p:cNvPr name="TextBox 21" id="21"/>
          <p:cNvSpPr txBox="true"/>
          <p:nvPr/>
        </p:nvSpPr>
        <p:spPr>
          <a:xfrm rot="0">
            <a:off x="1386192" y="1951158"/>
            <a:ext cx="15299417" cy="1247137"/>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1"/>
                <a:ea typeface="Canva Sans 1"/>
                <a:cs typeface="Canva Sans 1"/>
                <a:sym typeface="Canva Sans 1"/>
              </a:rPr>
              <a:t>1. we will appoint counsellors and volunteers for the counselling sessions.</a:t>
            </a:r>
          </a:p>
          <a:p>
            <a:pPr algn="ctr">
              <a:lnSpc>
                <a:spcPts val="4759"/>
              </a:lnSpc>
            </a:pPr>
            <a:r>
              <a:rPr lang="en-US" sz="3399">
                <a:solidFill>
                  <a:srgbClr val="000000"/>
                </a:solidFill>
                <a:latin typeface="Canva Sans 1"/>
                <a:ea typeface="Canva Sans 1"/>
                <a:cs typeface="Canva Sans 1"/>
                <a:sym typeface="Canva Sans 1"/>
              </a:rPr>
              <a:t>2. will create a space place for the red zone patients .</a:t>
            </a:r>
          </a:p>
        </p:txBody>
      </p:sp>
      <p:sp>
        <p:nvSpPr>
          <p:cNvPr name="TextBox 22" id="22"/>
          <p:cNvSpPr txBox="true"/>
          <p:nvPr/>
        </p:nvSpPr>
        <p:spPr>
          <a:xfrm rot="0">
            <a:off x="395316" y="3491208"/>
            <a:ext cx="16863984" cy="1142990"/>
          </a:xfrm>
          <a:prstGeom prst="rect">
            <a:avLst/>
          </a:prstGeom>
        </p:spPr>
        <p:txBody>
          <a:bodyPr anchor="t" rtlCol="false" tIns="0" lIns="0" bIns="0" rIns="0">
            <a:spAutoFit/>
          </a:bodyPr>
          <a:lstStyle/>
          <a:p>
            <a:pPr algn="ctr">
              <a:lnSpc>
                <a:spcPts val="8400"/>
              </a:lnSpc>
            </a:pPr>
            <a:r>
              <a:rPr lang="en-US" sz="6000" b="true">
                <a:solidFill>
                  <a:srgbClr val="EC64E3"/>
                </a:solidFill>
                <a:latin typeface="Canva Sans 1 Bold"/>
                <a:ea typeface="Canva Sans 1 Bold"/>
                <a:cs typeface="Canva Sans 1 Bold"/>
                <a:sym typeface="Canva Sans 1 Bold"/>
              </a:rPr>
              <a:t>SAFE PLACE/ RECOVERY ROOM </a:t>
            </a:r>
          </a:p>
        </p:txBody>
      </p:sp>
      <p:sp>
        <p:nvSpPr>
          <p:cNvPr name="TextBox 23" id="23"/>
          <p:cNvSpPr txBox="true"/>
          <p:nvPr/>
        </p:nvSpPr>
        <p:spPr>
          <a:xfrm rot="0">
            <a:off x="530962" y="4557074"/>
            <a:ext cx="17226086" cy="982342"/>
          </a:xfrm>
          <a:prstGeom prst="rect">
            <a:avLst/>
          </a:prstGeom>
        </p:spPr>
        <p:txBody>
          <a:bodyPr anchor="t" rtlCol="false" tIns="0" lIns="0" bIns="0" rIns="0">
            <a:spAutoFit/>
          </a:bodyPr>
          <a:lstStyle/>
          <a:p>
            <a:pPr algn="ctr">
              <a:lnSpc>
                <a:spcPts val="7279"/>
              </a:lnSpc>
            </a:pPr>
            <a:r>
              <a:rPr lang="en-US" sz="5198" b="true">
                <a:solidFill>
                  <a:srgbClr val="000000"/>
                </a:solidFill>
                <a:latin typeface="Canva Sans 1 Bold"/>
                <a:ea typeface="Canva Sans 1 Bold"/>
                <a:cs typeface="Canva Sans 1 Bold"/>
                <a:sym typeface="Canva Sans 1 Bold"/>
              </a:rPr>
              <a:t>Objective- A safe place to pause, breathe &amp; reconnect</a:t>
            </a:r>
          </a:p>
        </p:txBody>
      </p:sp>
      <p:sp>
        <p:nvSpPr>
          <p:cNvPr name="TextBox 24" id="24"/>
          <p:cNvSpPr txBox="true"/>
          <p:nvPr/>
        </p:nvSpPr>
        <p:spPr>
          <a:xfrm rot="0">
            <a:off x="-52883" y="6206166"/>
            <a:ext cx="18089013" cy="1247137"/>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1"/>
                <a:ea typeface="Canva Sans 1"/>
                <a:cs typeface="Canva Sans 1"/>
                <a:sym typeface="Canva Sans 1"/>
              </a:rPr>
              <a:t>It will be designed as a Safe, silence &amp; recovery room, quite, low stimulating, calming , private, but never isolated from appropriate ( volunteers, counselors) supervision.</a:t>
            </a:r>
          </a:p>
        </p:txBody>
      </p:sp>
      <p:sp>
        <p:nvSpPr>
          <p:cNvPr name="TextBox 25" id="25"/>
          <p:cNvSpPr txBox="true"/>
          <p:nvPr/>
        </p:nvSpPr>
        <p:spPr>
          <a:xfrm rot="0">
            <a:off x="-300647" y="7427928"/>
            <a:ext cx="18082460" cy="1847212"/>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1"/>
                <a:ea typeface="Canva Sans 1"/>
                <a:cs typeface="Canva Sans 1"/>
                <a:sym typeface="Canva Sans 1"/>
              </a:rPr>
              <a:t>we will write motivational quotes on the walls like;                                                            </a:t>
            </a:r>
          </a:p>
          <a:p>
            <a:pPr algn="ctr">
              <a:lnSpc>
                <a:spcPts val="4759"/>
              </a:lnSpc>
            </a:pPr>
            <a:r>
              <a:rPr lang="en-US" sz="3399">
                <a:solidFill>
                  <a:srgbClr val="000000"/>
                </a:solidFill>
                <a:latin typeface="Canva Sans 1"/>
                <a:ea typeface="Canva Sans 1"/>
                <a:cs typeface="Canva Sans 1"/>
                <a:sym typeface="Canva Sans 1"/>
              </a:rPr>
              <a:t>~ Safe place- Silence for the mind, support for the heart</a:t>
            </a:r>
          </a:p>
          <a:p>
            <a:pPr algn="ctr">
              <a:lnSpc>
                <a:spcPts val="4759"/>
              </a:lnSpc>
            </a:pPr>
            <a:r>
              <a:rPr lang="en-US" sz="3399">
                <a:solidFill>
                  <a:srgbClr val="000000"/>
                </a:solidFill>
                <a:latin typeface="Canva Sans 1"/>
                <a:ea typeface="Canva Sans 1"/>
                <a:cs typeface="Canva Sans 1"/>
                <a:sym typeface="Canva Sans 1"/>
              </a:rPr>
              <a:t>~ A quiet place where everything feels too loud.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835863" y="94107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6301133" y="87476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514884" y="66640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130560" y="10839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708174" y="-14900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360056" y="-26754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3202050" y="-38465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08531" y="8302285"/>
            <a:ext cx="3189446" cy="7187489"/>
            <a:chOff x="0" y="0"/>
            <a:chExt cx="4252595" cy="9583318"/>
          </a:xfrm>
        </p:grpSpPr>
        <p:sp>
          <p:nvSpPr>
            <p:cNvPr name="Freeform 19" id="19"/>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sp>
        <p:nvSpPr>
          <p:cNvPr name="TextBox 20" id="20"/>
          <p:cNvSpPr txBox="true"/>
          <p:nvPr/>
        </p:nvSpPr>
        <p:spPr>
          <a:xfrm rot="0">
            <a:off x="2470956" y="664140"/>
            <a:ext cx="13830176" cy="887068"/>
          </a:xfrm>
          <a:prstGeom prst="rect">
            <a:avLst/>
          </a:prstGeom>
        </p:spPr>
        <p:txBody>
          <a:bodyPr anchor="t" rtlCol="false" tIns="0" lIns="0" bIns="0" rIns="0">
            <a:spAutoFit/>
          </a:bodyPr>
          <a:lstStyle/>
          <a:p>
            <a:pPr algn="ctr">
              <a:lnSpc>
                <a:spcPts val="7279"/>
              </a:lnSpc>
            </a:pPr>
            <a:r>
              <a:rPr lang="en-US" sz="5198" b="true">
                <a:solidFill>
                  <a:srgbClr val="000000"/>
                </a:solidFill>
                <a:latin typeface="Canva Sans 1 Bold"/>
                <a:ea typeface="Canva Sans 1 Bold"/>
                <a:cs typeface="Canva Sans 1 Bold"/>
                <a:sym typeface="Canva Sans 1 Bold"/>
              </a:rPr>
              <a:t>Ideal atmosphere for safe place;</a:t>
            </a:r>
          </a:p>
        </p:txBody>
      </p:sp>
      <p:sp>
        <p:nvSpPr>
          <p:cNvPr name="TextBox 21" id="21"/>
          <p:cNvSpPr txBox="true"/>
          <p:nvPr/>
        </p:nvSpPr>
        <p:spPr>
          <a:xfrm rot="0">
            <a:off x="988362" y="2110931"/>
            <a:ext cx="16876052" cy="1247137"/>
          </a:xfrm>
          <a:prstGeom prst="rect">
            <a:avLst/>
          </a:prstGeom>
        </p:spPr>
        <p:txBody>
          <a:bodyPr anchor="t" rtlCol="false" tIns="0" lIns="0" bIns="0" rIns="0">
            <a:spAutoFit/>
          </a:bodyPr>
          <a:lstStyle/>
          <a:p>
            <a:pPr algn="ctr">
              <a:lnSpc>
                <a:spcPts val="4759"/>
              </a:lnSpc>
            </a:pPr>
            <a:r>
              <a:rPr lang="en-US" sz="3399">
                <a:solidFill>
                  <a:srgbClr val="AF0505"/>
                </a:solidFill>
                <a:latin typeface="Canva Sans 1"/>
                <a:ea typeface="Canva Sans 1"/>
                <a:cs typeface="Canva Sans 1"/>
                <a:sym typeface="Canva Sans 1"/>
              </a:rPr>
              <a:t>Dim Warm light +  Comfortable seating + optional gentle instrumental music + volunter or counselor </a:t>
            </a:r>
          </a:p>
        </p:txBody>
      </p:sp>
      <p:sp>
        <p:nvSpPr>
          <p:cNvPr name="TextBox 22" id="22"/>
          <p:cNvSpPr txBox="true"/>
          <p:nvPr/>
        </p:nvSpPr>
        <p:spPr>
          <a:xfrm rot="0">
            <a:off x="297713" y="3318596"/>
            <a:ext cx="17844249" cy="3047362"/>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1 Bold"/>
                <a:ea typeface="Canva Sans 1 Bold"/>
                <a:cs typeface="Canva Sans 1 Bold"/>
                <a:sym typeface="Canva Sans 1 Bold"/>
              </a:rPr>
              <a:t>After making the patient relaxed at that time , they will be sent for counselling session the same day or within 24 hrs on priority basis.</a:t>
            </a:r>
          </a:p>
          <a:p>
            <a:pPr algn="ctr">
              <a:lnSpc>
                <a:spcPts val="4759"/>
              </a:lnSpc>
            </a:pPr>
          </a:p>
          <a:p>
            <a:pPr algn="ctr">
              <a:lnSpc>
                <a:spcPts val="4759"/>
              </a:lnSpc>
            </a:pPr>
            <a:r>
              <a:rPr lang="en-US" sz="3399" b="true">
                <a:solidFill>
                  <a:srgbClr val="000000"/>
                </a:solidFill>
                <a:latin typeface="Canva Sans 1 Bold"/>
                <a:ea typeface="Canva Sans 1 Bold"/>
                <a:cs typeface="Canva Sans 1 Bold"/>
                <a:sym typeface="Canva Sans 1 Bold"/>
              </a:rPr>
              <a:t>The follow up session is very important in this after completing the counselling we will have them a follow up date.</a:t>
            </a:r>
          </a:p>
        </p:txBody>
      </p:sp>
      <p:sp>
        <p:nvSpPr>
          <p:cNvPr name="TextBox 23" id="23"/>
          <p:cNvSpPr txBox="true"/>
          <p:nvPr/>
        </p:nvSpPr>
        <p:spPr>
          <a:xfrm rot="0">
            <a:off x="988362" y="6668491"/>
            <a:ext cx="3260769" cy="982342"/>
          </a:xfrm>
          <a:prstGeom prst="rect">
            <a:avLst/>
          </a:prstGeom>
        </p:spPr>
        <p:txBody>
          <a:bodyPr anchor="t" rtlCol="false" tIns="0" lIns="0" bIns="0" rIns="0">
            <a:spAutoFit/>
          </a:bodyPr>
          <a:lstStyle/>
          <a:p>
            <a:pPr algn="ctr">
              <a:lnSpc>
                <a:spcPts val="7279"/>
              </a:lnSpc>
            </a:pPr>
            <a:r>
              <a:rPr lang="en-US" sz="5198" b="true">
                <a:solidFill>
                  <a:srgbClr val="000000"/>
                </a:solidFill>
                <a:latin typeface="Canva Sans 1 Bold"/>
                <a:ea typeface="Canva Sans 1 Bold"/>
                <a:cs typeface="Canva Sans 1 Bold"/>
                <a:sym typeface="Canva Sans 1 Bold"/>
              </a:rPr>
              <a:t>Goal is to-</a:t>
            </a:r>
          </a:p>
        </p:txBody>
      </p:sp>
      <p:sp>
        <p:nvSpPr>
          <p:cNvPr name="TextBox 24" id="24"/>
          <p:cNvSpPr txBox="true"/>
          <p:nvPr/>
        </p:nvSpPr>
        <p:spPr>
          <a:xfrm rot="0">
            <a:off x="2189453" y="7599940"/>
            <a:ext cx="14473869" cy="863600"/>
          </a:xfrm>
          <a:prstGeom prst="rect">
            <a:avLst/>
          </a:prstGeom>
        </p:spPr>
        <p:txBody>
          <a:bodyPr anchor="t" rtlCol="false" tIns="0" lIns="0" bIns="0" rIns="0">
            <a:spAutoFit/>
          </a:bodyPr>
          <a:lstStyle/>
          <a:p>
            <a:pPr algn="ctr">
              <a:lnSpc>
                <a:spcPts val="7000"/>
              </a:lnSpc>
            </a:pPr>
            <a:r>
              <a:rPr lang="en-US" sz="5000" b="true">
                <a:solidFill>
                  <a:srgbClr val="AF0505"/>
                </a:solidFill>
                <a:latin typeface="Canva Sans 1 Bold"/>
                <a:ea typeface="Canva Sans 1 Bold"/>
                <a:cs typeface="Canva Sans 1 Bold"/>
                <a:sym typeface="Canva Sans 1 Bold"/>
              </a:rPr>
              <a:t>Detect- stablize- connect- follow up</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8531" y="8302285"/>
            <a:ext cx="3189446" cy="7187489"/>
            <a:chOff x="0" y="0"/>
            <a:chExt cx="4252595" cy="9583318"/>
          </a:xfrm>
        </p:grpSpPr>
        <p:sp>
          <p:nvSpPr>
            <p:cNvPr name="Freeform 3" id="3"/>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2"/>
              <a:stretch>
                <a:fillRect l="-114" t="0" r="-114" b="0"/>
              </a:stretch>
            </a:blipFill>
          </p:spPr>
        </p:sp>
      </p:grpSp>
      <p:grpSp>
        <p:nvGrpSpPr>
          <p:cNvPr name="Group 4" id="4"/>
          <p:cNvGrpSpPr/>
          <p:nvPr/>
        </p:nvGrpSpPr>
        <p:grpSpPr>
          <a:xfrm rot="0">
            <a:off x="16301133" y="8747627"/>
            <a:ext cx="2840507" cy="2623918"/>
            <a:chOff x="0" y="0"/>
            <a:chExt cx="3787343" cy="3498558"/>
          </a:xfrm>
        </p:grpSpPr>
        <p:sp>
          <p:nvSpPr>
            <p:cNvPr name="Freeform 5" id="5"/>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3"/>
              <a:stretch>
                <a:fillRect l="-22" t="0" r="-21" b="1"/>
              </a:stretch>
            </a:blipFill>
          </p:spPr>
        </p:sp>
      </p:grpSp>
      <p:grpSp>
        <p:nvGrpSpPr>
          <p:cNvPr name="Group 6" id="6"/>
          <p:cNvGrpSpPr/>
          <p:nvPr/>
        </p:nvGrpSpPr>
        <p:grpSpPr>
          <a:xfrm rot="8862360">
            <a:off x="1360056" y="-2675411"/>
            <a:ext cx="4757814" cy="4634027"/>
            <a:chOff x="0" y="0"/>
            <a:chExt cx="6343752" cy="6178702"/>
          </a:xfrm>
        </p:grpSpPr>
        <p:sp>
          <p:nvSpPr>
            <p:cNvPr name="Freeform 7" id="7"/>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4"/>
              <a:stretch>
                <a:fillRect l="-42" t="0" r="-41" b="0"/>
              </a:stretch>
            </a:blipFill>
          </p:spPr>
        </p:sp>
      </p:grpSp>
      <p:grpSp>
        <p:nvGrpSpPr>
          <p:cNvPr name="Group 8" id="8"/>
          <p:cNvGrpSpPr/>
          <p:nvPr/>
        </p:nvGrpSpPr>
        <p:grpSpPr>
          <a:xfrm rot="3880920">
            <a:off x="-1130560" y="1083945"/>
            <a:ext cx="2769803" cy="4228700"/>
            <a:chOff x="0" y="0"/>
            <a:chExt cx="3693071" cy="5638267"/>
          </a:xfrm>
        </p:grpSpPr>
        <p:sp>
          <p:nvSpPr>
            <p:cNvPr name="Freeform 9" id="9"/>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0" id="10"/>
          <p:cNvGrpSpPr/>
          <p:nvPr/>
        </p:nvGrpSpPr>
        <p:grpSpPr>
          <a:xfrm rot="2700000">
            <a:off x="-708174" y="-1490081"/>
            <a:ext cx="1568015" cy="3957142"/>
            <a:chOff x="0" y="0"/>
            <a:chExt cx="2090687" cy="5276190"/>
          </a:xfrm>
        </p:grpSpPr>
        <p:sp>
          <p:nvSpPr>
            <p:cNvPr name="Freeform 11" id="11"/>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2" id="12"/>
          <p:cNvGrpSpPr/>
          <p:nvPr/>
        </p:nvGrpSpPr>
        <p:grpSpPr>
          <a:xfrm rot="0">
            <a:off x="13202050" y="-3846500"/>
            <a:ext cx="7220312" cy="6949554"/>
            <a:chOff x="0" y="0"/>
            <a:chExt cx="9627083" cy="9266072"/>
          </a:xfrm>
        </p:grpSpPr>
        <p:sp>
          <p:nvSpPr>
            <p:cNvPr name="Freeform 13" id="13"/>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7"/>
              <a:stretch>
                <a:fillRect l="0" t="-18" r="0" b="-18"/>
              </a:stretch>
            </a:blipFill>
          </p:spPr>
        </p:sp>
      </p:grpSp>
      <p:grpSp>
        <p:nvGrpSpPr>
          <p:cNvPr name="Group 14" id="14"/>
          <p:cNvGrpSpPr/>
          <p:nvPr/>
        </p:nvGrpSpPr>
        <p:grpSpPr>
          <a:xfrm rot="-5400000">
            <a:off x="13835863" y="9410700"/>
            <a:ext cx="2902991" cy="3303546"/>
            <a:chOff x="0" y="0"/>
            <a:chExt cx="3870655" cy="4404728"/>
          </a:xfrm>
        </p:grpSpPr>
        <p:sp>
          <p:nvSpPr>
            <p:cNvPr name="Freeform 15" id="1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8"/>
              <a:stretch>
                <a:fillRect l="-25" t="0" r="-23" b="0"/>
              </a:stretch>
            </a:blipFill>
          </p:spPr>
        </p:sp>
      </p:grpSp>
      <p:grpSp>
        <p:nvGrpSpPr>
          <p:cNvPr name="Group 16" id="16"/>
          <p:cNvGrpSpPr/>
          <p:nvPr/>
        </p:nvGrpSpPr>
        <p:grpSpPr>
          <a:xfrm rot="735120">
            <a:off x="17514884" y="6664042"/>
            <a:ext cx="2136486" cy="1973580"/>
            <a:chOff x="0" y="0"/>
            <a:chExt cx="2848648" cy="2631440"/>
          </a:xfrm>
        </p:grpSpPr>
        <p:sp>
          <p:nvSpPr>
            <p:cNvPr name="Freeform 17" id="17"/>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3"/>
              <a:stretch>
                <a:fillRect l="-22" t="0" r="-23" b="0"/>
              </a:stretch>
            </a:blipFill>
          </p:spPr>
        </p:sp>
      </p:grpSp>
      <p:grpSp>
        <p:nvGrpSpPr>
          <p:cNvPr name="Group 18" id="18"/>
          <p:cNvGrpSpPr/>
          <p:nvPr/>
        </p:nvGrpSpPr>
        <p:grpSpPr>
          <a:xfrm rot="0">
            <a:off x="0" y="0"/>
            <a:ext cx="18288000" cy="10287000"/>
            <a:chOff x="0" y="0"/>
            <a:chExt cx="24384000" cy="13716000"/>
          </a:xfrm>
        </p:grpSpPr>
        <p:sp>
          <p:nvSpPr>
            <p:cNvPr name="Freeform 19" id="19"/>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9"/>
              <a:stretch>
                <a:fillRect l="0" t="-38888" r="0" b="-38888"/>
              </a:stretch>
            </a:blipFill>
          </p:spPr>
        </p:sp>
      </p:grpSp>
      <p:grpSp>
        <p:nvGrpSpPr>
          <p:cNvPr name="Group 20" id="20"/>
          <p:cNvGrpSpPr/>
          <p:nvPr/>
        </p:nvGrpSpPr>
        <p:grpSpPr>
          <a:xfrm rot="0">
            <a:off x="16453533" y="8900027"/>
            <a:ext cx="2840507" cy="2623918"/>
            <a:chOff x="0" y="0"/>
            <a:chExt cx="3787343" cy="3498558"/>
          </a:xfrm>
        </p:grpSpPr>
        <p:sp>
          <p:nvSpPr>
            <p:cNvPr name="Freeform 21" id="21"/>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3"/>
              <a:stretch>
                <a:fillRect l="-22" t="0" r="-21" b="1"/>
              </a:stretch>
            </a:blipFill>
          </p:spPr>
        </p:sp>
      </p:grpSp>
      <p:grpSp>
        <p:nvGrpSpPr>
          <p:cNvPr name="Group 22" id="22"/>
          <p:cNvGrpSpPr/>
          <p:nvPr/>
        </p:nvGrpSpPr>
        <p:grpSpPr>
          <a:xfrm rot="735120">
            <a:off x="17667284" y="6816442"/>
            <a:ext cx="2136486" cy="1973580"/>
            <a:chOff x="0" y="0"/>
            <a:chExt cx="2848648" cy="2631440"/>
          </a:xfrm>
        </p:grpSpPr>
        <p:sp>
          <p:nvSpPr>
            <p:cNvPr name="Freeform 23" id="23"/>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3"/>
              <a:stretch>
                <a:fillRect l="-22" t="0" r="-23" b="0"/>
              </a:stretch>
            </a:blipFill>
          </p:spPr>
        </p:sp>
      </p:grpSp>
      <p:grpSp>
        <p:nvGrpSpPr>
          <p:cNvPr name="Group 24" id="24"/>
          <p:cNvGrpSpPr/>
          <p:nvPr/>
        </p:nvGrpSpPr>
        <p:grpSpPr>
          <a:xfrm rot="-5400000">
            <a:off x="13735724" y="9310561"/>
            <a:ext cx="3408069" cy="3303546"/>
            <a:chOff x="0" y="0"/>
            <a:chExt cx="4544092" cy="4404728"/>
          </a:xfrm>
        </p:grpSpPr>
        <p:sp>
          <p:nvSpPr>
            <p:cNvPr name="Freeform 25" id="25"/>
            <p:cNvSpPr/>
            <p:nvPr/>
          </p:nvSpPr>
          <p:spPr>
            <a:xfrm flipH="false" flipV="false" rot="0">
              <a:off x="0" y="0"/>
              <a:ext cx="4544142" cy="4404741"/>
            </a:xfrm>
            <a:custGeom>
              <a:avLst/>
              <a:gdLst/>
              <a:ahLst/>
              <a:cxnLst/>
              <a:rect r="r" b="b" t="t" l="l"/>
              <a:pathLst>
                <a:path h="4404741" w="4544142">
                  <a:moveTo>
                    <a:pt x="0" y="0"/>
                  </a:moveTo>
                  <a:lnTo>
                    <a:pt x="4544142" y="0"/>
                  </a:lnTo>
                  <a:lnTo>
                    <a:pt x="4544142" y="4404741"/>
                  </a:lnTo>
                  <a:lnTo>
                    <a:pt x="0" y="4404741"/>
                  </a:lnTo>
                  <a:lnTo>
                    <a:pt x="0" y="0"/>
                  </a:lnTo>
                  <a:close/>
                </a:path>
              </a:pathLst>
            </a:custGeom>
            <a:blipFill>
              <a:blip r:embed="rId8"/>
              <a:stretch>
                <a:fillRect l="-1" t="-8671" r="0" b="-8670"/>
              </a:stretch>
            </a:blipFill>
          </p:spPr>
        </p:sp>
      </p:grpSp>
      <p:grpSp>
        <p:nvGrpSpPr>
          <p:cNvPr name="Group 26" id="26"/>
          <p:cNvGrpSpPr/>
          <p:nvPr/>
        </p:nvGrpSpPr>
        <p:grpSpPr>
          <a:xfrm rot="0">
            <a:off x="13354450" y="-3694100"/>
            <a:ext cx="7220312" cy="6949554"/>
            <a:chOff x="0" y="0"/>
            <a:chExt cx="9627083" cy="9266072"/>
          </a:xfrm>
        </p:grpSpPr>
        <p:sp>
          <p:nvSpPr>
            <p:cNvPr name="Freeform 27" id="2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7"/>
              <a:stretch>
                <a:fillRect l="0" t="-18" r="0" b="-18"/>
              </a:stretch>
            </a:blipFill>
          </p:spPr>
        </p:sp>
      </p:grpSp>
      <p:grpSp>
        <p:nvGrpSpPr>
          <p:cNvPr name="Group 28" id="28"/>
          <p:cNvGrpSpPr/>
          <p:nvPr/>
        </p:nvGrpSpPr>
        <p:grpSpPr>
          <a:xfrm rot="8862360">
            <a:off x="1512456" y="-2523011"/>
            <a:ext cx="4757814" cy="4634027"/>
            <a:chOff x="0" y="0"/>
            <a:chExt cx="6343752" cy="6178702"/>
          </a:xfrm>
        </p:grpSpPr>
        <p:sp>
          <p:nvSpPr>
            <p:cNvPr name="Freeform 29" id="29"/>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4"/>
              <a:stretch>
                <a:fillRect l="-42" t="0" r="-41" b="0"/>
              </a:stretch>
            </a:blipFill>
          </p:spPr>
        </p:sp>
      </p:grpSp>
      <p:grpSp>
        <p:nvGrpSpPr>
          <p:cNvPr name="Group 30" id="30"/>
          <p:cNvGrpSpPr/>
          <p:nvPr/>
        </p:nvGrpSpPr>
        <p:grpSpPr>
          <a:xfrm rot="3880920">
            <a:off x="-978160" y="1236345"/>
            <a:ext cx="2769803" cy="4228700"/>
            <a:chOff x="0" y="0"/>
            <a:chExt cx="3693071" cy="5638267"/>
          </a:xfrm>
        </p:grpSpPr>
        <p:sp>
          <p:nvSpPr>
            <p:cNvPr name="Freeform 31" id="3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32" id="32"/>
          <p:cNvGrpSpPr/>
          <p:nvPr/>
        </p:nvGrpSpPr>
        <p:grpSpPr>
          <a:xfrm rot="2700000">
            <a:off x="-555774" y="-1337681"/>
            <a:ext cx="1568015" cy="3957142"/>
            <a:chOff x="0" y="0"/>
            <a:chExt cx="2090687" cy="5276190"/>
          </a:xfrm>
        </p:grpSpPr>
        <p:sp>
          <p:nvSpPr>
            <p:cNvPr name="Freeform 33" id="3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34" id="34"/>
          <p:cNvGrpSpPr/>
          <p:nvPr/>
        </p:nvGrpSpPr>
        <p:grpSpPr>
          <a:xfrm rot="0">
            <a:off x="-56131" y="8454685"/>
            <a:ext cx="3189446" cy="7187489"/>
            <a:chOff x="0" y="0"/>
            <a:chExt cx="4252595" cy="9583318"/>
          </a:xfrm>
        </p:grpSpPr>
        <p:sp>
          <p:nvSpPr>
            <p:cNvPr name="Freeform 35" id="35"/>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2"/>
              <a:stretch>
                <a:fillRect l="-114" t="0" r="-114" b="0"/>
              </a:stretch>
            </a:blipFill>
          </p:spPr>
        </p:sp>
      </p:grpSp>
      <p:grpSp>
        <p:nvGrpSpPr>
          <p:cNvPr name="Group 36" id="36"/>
          <p:cNvGrpSpPr/>
          <p:nvPr/>
        </p:nvGrpSpPr>
        <p:grpSpPr>
          <a:xfrm rot="2700000">
            <a:off x="-403374" y="-1185281"/>
            <a:ext cx="1568015" cy="3957142"/>
            <a:chOff x="0" y="0"/>
            <a:chExt cx="2090687" cy="5276190"/>
          </a:xfrm>
        </p:grpSpPr>
        <p:sp>
          <p:nvSpPr>
            <p:cNvPr name="Freeform 37" id="37"/>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38" id="38"/>
          <p:cNvGrpSpPr/>
          <p:nvPr/>
        </p:nvGrpSpPr>
        <p:grpSpPr>
          <a:xfrm rot="0">
            <a:off x="16605933" y="9052427"/>
            <a:ext cx="2840507" cy="2623918"/>
            <a:chOff x="0" y="0"/>
            <a:chExt cx="3787343" cy="3498558"/>
          </a:xfrm>
        </p:grpSpPr>
        <p:sp>
          <p:nvSpPr>
            <p:cNvPr name="Freeform 39" id="39"/>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3"/>
              <a:stretch>
                <a:fillRect l="-22" t="0" r="-21" b="1"/>
              </a:stretch>
            </a:blipFill>
          </p:spPr>
        </p:sp>
      </p:grpSp>
      <p:sp>
        <p:nvSpPr>
          <p:cNvPr name="TextBox 40" id="40"/>
          <p:cNvSpPr txBox="true"/>
          <p:nvPr/>
        </p:nvSpPr>
        <p:spPr>
          <a:xfrm rot="0">
            <a:off x="2910246" y="759726"/>
            <a:ext cx="15700150" cy="1021703"/>
          </a:xfrm>
          <a:prstGeom prst="rect">
            <a:avLst/>
          </a:prstGeom>
        </p:spPr>
        <p:txBody>
          <a:bodyPr anchor="t" rtlCol="false" tIns="0" lIns="0" bIns="0" rIns="0">
            <a:spAutoFit/>
          </a:bodyPr>
          <a:lstStyle/>
          <a:p>
            <a:pPr algn="ctr">
              <a:lnSpc>
                <a:spcPts val="8260"/>
              </a:lnSpc>
            </a:pPr>
            <a:r>
              <a:rPr lang="en-US" sz="5900">
                <a:solidFill>
                  <a:srgbClr val="307834"/>
                </a:solidFill>
                <a:latin typeface="Kingred Modern"/>
                <a:ea typeface="Kingred Modern"/>
                <a:cs typeface="Kingred Modern"/>
                <a:sym typeface="Kingred Modern"/>
              </a:rPr>
              <a:t>REFERENCES OF RECOVERY ROOM;</a:t>
            </a:r>
          </a:p>
        </p:txBody>
      </p:sp>
      <p:sp>
        <p:nvSpPr>
          <p:cNvPr name="TextBox 41" id="41"/>
          <p:cNvSpPr txBox="true"/>
          <p:nvPr/>
        </p:nvSpPr>
        <p:spPr>
          <a:xfrm rot="0">
            <a:off x="490134" y="1962403"/>
            <a:ext cx="17838182" cy="7648574"/>
          </a:xfrm>
          <a:prstGeom prst="rect">
            <a:avLst/>
          </a:prstGeom>
        </p:spPr>
        <p:txBody>
          <a:bodyPr anchor="t" rtlCol="false" tIns="0" lIns="0" bIns="0" rIns="0">
            <a:spAutoFit/>
          </a:bodyPr>
          <a:lstStyle/>
          <a:p>
            <a:pPr algn="ctr">
              <a:lnSpc>
                <a:spcPts val="5600"/>
              </a:lnSpc>
            </a:pPr>
            <a:r>
              <a:rPr lang="en-US" sz="4000" b="true">
                <a:solidFill>
                  <a:srgbClr val="F81C1C"/>
                </a:solidFill>
                <a:latin typeface="Canva Sans 2 Bold"/>
                <a:ea typeface="Canva Sans 2 Bold"/>
                <a:cs typeface="Canva Sans 2 Bold"/>
                <a:sym typeface="Canva Sans 2 Bold"/>
              </a:rPr>
              <a:t>- </a:t>
            </a:r>
            <a:r>
              <a:rPr lang="en-US" sz="4000" b="true">
                <a:solidFill>
                  <a:srgbClr val="000000"/>
                </a:solidFill>
                <a:latin typeface="Canva Sans 2 Bold"/>
                <a:ea typeface="Canva Sans 2 Bold"/>
                <a:cs typeface="Canva Sans 2 Bold"/>
                <a:sym typeface="Canva Sans 2 Bold"/>
              </a:rPr>
              <a:t>University of Alberta, Canada </a:t>
            </a:r>
          </a:p>
          <a:p>
            <a:pPr algn="ctr">
              <a:lnSpc>
                <a:spcPts val="4760"/>
              </a:lnSpc>
            </a:pPr>
            <a:r>
              <a:rPr lang="en-US" sz="3400" b="true">
                <a:solidFill>
                  <a:srgbClr val="F81C1C"/>
                </a:solidFill>
                <a:latin typeface="Canva Sans 2 Bold"/>
                <a:ea typeface="Canva Sans 2 Bold"/>
                <a:cs typeface="Canva Sans 2 Bold"/>
                <a:sym typeface="Canva Sans 2 Bold"/>
              </a:rPr>
              <a:t>(UCommons Calm Room- low stimulus room with comfortable seating, soothing lightning,sensory tools,breathing guides,audio relaxation, yoga mats, etc.)  </a:t>
            </a:r>
          </a:p>
          <a:p>
            <a:pPr algn="ctr">
              <a:lnSpc>
                <a:spcPts val="4760"/>
              </a:lnSpc>
            </a:pPr>
          </a:p>
          <a:p>
            <a:pPr algn="ctr">
              <a:lnSpc>
                <a:spcPts val="5600"/>
              </a:lnSpc>
            </a:pPr>
            <a:r>
              <a:rPr lang="en-US" sz="4000" b="true">
                <a:solidFill>
                  <a:srgbClr val="F81C1C"/>
                </a:solidFill>
                <a:latin typeface="Canva Sans 2 Bold"/>
                <a:ea typeface="Canva Sans 2 Bold"/>
                <a:cs typeface="Canva Sans 2 Bold"/>
                <a:sym typeface="Canva Sans 2 Bold"/>
              </a:rPr>
              <a:t>- </a:t>
            </a:r>
            <a:r>
              <a:rPr lang="en-US" sz="4000" b="true">
                <a:solidFill>
                  <a:srgbClr val="000000"/>
                </a:solidFill>
                <a:latin typeface="Canva Sans 2 Bold"/>
                <a:ea typeface="Canva Sans 2 Bold"/>
                <a:cs typeface="Canva Sans 2 Bold"/>
                <a:sym typeface="Canva Sans 2 Bold"/>
              </a:rPr>
              <a:t>University of Florida, USA</a:t>
            </a:r>
            <a:r>
              <a:rPr lang="en-US" sz="4000" b="true">
                <a:solidFill>
                  <a:srgbClr val="F81C1C"/>
                </a:solidFill>
                <a:latin typeface="Canva Sans 2 Bold"/>
                <a:ea typeface="Canva Sans 2 Bold"/>
                <a:cs typeface="Canva Sans 2 Bold"/>
                <a:sym typeface="Canva Sans 2 Bold"/>
              </a:rPr>
              <a:t> </a:t>
            </a:r>
          </a:p>
          <a:p>
            <a:pPr algn="ctr">
              <a:lnSpc>
                <a:spcPts val="4760"/>
              </a:lnSpc>
            </a:pPr>
            <a:r>
              <a:rPr lang="en-US" sz="3400" b="true">
                <a:solidFill>
                  <a:srgbClr val="F81C1C"/>
                </a:solidFill>
                <a:latin typeface="Canva Sans 2 Bold"/>
                <a:ea typeface="Canva Sans 2 Bold"/>
                <a:cs typeface="Canva Sans 2 Bold"/>
                <a:sym typeface="Canva Sans 2 Bold"/>
              </a:rPr>
              <a:t>(Relaxation room providing a quiet, low stimulation environment for stress reduction and mindfulness.)</a:t>
            </a:r>
          </a:p>
          <a:p>
            <a:pPr algn="ctr">
              <a:lnSpc>
                <a:spcPts val="4760"/>
              </a:lnSpc>
            </a:pPr>
          </a:p>
          <a:p>
            <a:pPr algn="ctr">
              <a:lnSpc>
                <a:spcPts val="5600"/>
              </a:lnSpc>
            </a:pPr>
            <a:r>
              <a:rPr lang="en-US" sz="4000" b="true">
                <a:solidFill>
                  <a:srgbClr val="F81C1C"/>
                </a:solidFill>
                <a:latin typeface="Canva Sans 2 Bold"/>
                <a:ea typeface="Canva Sans 2 Bold"/>
                <a:cs typeface="Canva Sans 2 Bold"/>
                <a:sym typeface="Canva Sans 2 Bold"/>
              </a:rPr>
              <a:t>- </a:t>
            </a:r>
            <a:r>
              <a:rPr lang="en-US" sz="4000" b="true">
                <a:solidFill>
                  <a:srgbClr val="000000"/>
                </a:solidFill>
                <a:latin typeface="Canva Sans 2 Bold"/>
                <a:ea typeface="Canva Sans 2 Bold"/>
                <a:cs typeface="Canva Sans 2 Bold"/>
                <a:sym typeface="Canva Sans 2 Bold"/>
              </a:rPr>
              <a:t>Parul University, INSIGHT: centre for counselling and psychological wellness</a:t>
            </a:r>
          </a:p>
          <a:p>
            <a:pPr algn="ctr">
              <a:lnSpc>
                <a:spcPts val="4900"/>
              </a:lnSpc>
            </a:pPr>
            <a:r>
              <a:rPr lang="en-US" sz="3500" b="true">
                <a:solidFill>
                  <a:srgbClr val="F81C1C"/>
                </a:solidFill>
                <a:latin typeface="Canva Sans 2 Bold"/>
                <a:ea typeface="Canva Sans 2 Bold"/>
                <a:cs typeface="Canva Sans 2 Bold"/>
                <a:sym typeface="Canva Sans 2 Bold"/>
              </a:rPr>
              <a:t>( it includes 1 to 1 counselling +crisis first response+ connection  to app. help + campus mental - health training.)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3835863" y="9410700"/>
            <a:ext cx="2902991" cy="3303546"/>
            <a:chOff x="0" y="0"/>
            <a:chExt cx="3870655" cy="4404728"/>
          </a:xfrm>
        </p:grpSpPr>
        <p:sp>
          <p:nvSpPr>
            <p:cNvPr name="Freeform 5" id="5"/>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3"/>
              <a:stretch>
                <a:fillRect l="-25" t="0" r="-23" b="0"/>
              </a:stretch>
            </a:blipFill>
          </p:spPr>
        </p:sp>
      </p:grpSp>
      <p:grpSp>
        <p:nvGrpSpPr>
          <p:cNvPr name="Group 6" id="6"/>
          <p:cNvGrpSpPr/>
          <p:nvPr/>
        </p:nvGrpSpPr>
        <p:grpSpPr>
          <a:xfrm rot="0">
            <a:off x="16301133" y="8747627"/>
            <a:ext cx="2840507" cy="2623918"/>
            <a:chOff x="0" y="0"/>
            <a:chExt cx="3787343" cy="3498558"/>
          </a:xfrm>
        </p:grpSpPr>
        <p:sp>
          <p:nvSpPr>
            <p:cNvPr name="Freeform 7" id="7"/>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4"/>
              <a:stretch>
                <a:fillRect l="-22" t="0" r="-21" b="1"/>
              </a:stretch>
            </a:blipFill>
          </p:spPr>
        </p:sp>
      </p:grpSp>
      <p:grpSp>
        <p:nvGrpSpPr>
          <p:cNvPr name="Group 8" id="8"/>
          <p:cNvGrpSpPr/>
          <p:nvPr/>
        </p:nvGrpSpPr>
        <p:grpSpPr>
          <a:xfrm rot="735120">
            <a:off x="17514884" y="6664042"/>
            <a:ext cx="2136486" cy="1973580"/>
            <a:chOff x="0" y="0"/>
            <a:chExt cx="2848648" cy="2631440"/>
          </a:xfrm>
        </p:grpSpPr>
        <p:sp>
          <p:nvSpPr>
            <p:cNvPr name="Freeform 9" id="9"/>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4"/>
              <a:stretch>
                <a:fillRect l="-22" t="0" r="-23" b="0"/>
              </a:stretch>
            </a:blipFill>
          </p:spPr>
        </p:sp>
      </p:grpSp>
      <p:grpSp>
        <p:nvGrpSpPr>
          <p:cNvPr name="Group 10" id="10"/>
          <p:cNvGrpSpPr/>
          <p:nvPr/>
        </p:nvGrpSpPr>
        <p:grpSpPr>
          <a:xfrm rot="3880920">
            <a:off x="-1130560" y="10839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12" id="12"/>
          <p:cNvGrpSpPr/>
          <p:nvPr/>
        </p:nvGrpSpPr>
        <p:grpSpPr>
          <a:xfrm rot="2700000">
            <a:off x="-708174" y="-14900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6"/>
              <a:stretch>
                <a:fillRect l="-29" t="0" r="-29" b="0"/>
              </a:stretch>
            </a:blipFill>
          </p:spPr>
        </p:sp>
      </p:grpSp>
      <p:grpSp>
        <p:nvGrpSpPr>
          <p:cNvPr name="Group 14" id="14"/>
          <p:cNvGrpSpPr/>
          <p:nvPr/>
        </p:nvGrpSpPr>
        <p:grpSpPr>
          <a:xfrm rot="8862360">
            <a:off x="1360056" y="-2675411"/>
            <a:ext cx="4757814" cy="4634027"/>
            <a:chOff x="0" y="0"/>
            <a:chExt cx="6343752" cy="6178702"/>
          </a:xfrm>
        </p:grpSpPr>
        <p:sp>
          <p:nvSpPr>
            <p:cNvPr name="Freeform 15" id="15"/>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7"/>
              <a:stretch>
                <a:fillRect l="-42" t="0" r="-41" b="0"/>
              </a:stretch>
            </a:blipFill>
          </p:spPr>
        </p:sp>
      </p:grpSp>
      <p:grpSp>
        <p:nvGrpSpPr>
          <p:cNvPr name="Group 16" id="16"/>
          <p:cNvGrpSpPr/>
          <p:nvPr/>
        </p:nvGrpSpPr>
        <p:grpSpPr>
          <a:xfrm rot="0">
            <a:off x="13202050" y="-3846500"/>
            <a:ext cx="7220312" cy="6949554"/>
            <a:chOff x="0" y="0"/>
            <a:chExt cx="9627083" cy="9266072"/>
          </a:xfrm>
        </p:grpSpPr>
        <p:sp>
          <p:nvSpPr>
            <p:cNvPr name="Freeform 17" id="1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8"/>
              <a:stretch>
                <a:fillRect l="0" t="-18" r="0" b="-18"/>
              </a:stretch>
            </a:blipFill>
          </p:spPr>
        </p:sp>
      </p:grpSp>
      <p:grpSp>
        <p:nvGrpSpPr>
          <p:cNvPr name="Group 18" id="18"/>
          <p:cNvGrpSpPr/>
          <p:nvPr/>
        </p:nvGrpSpPr>
        <p:grpSpPr>
          <a:xfrm rot="0">
            <a:off x="-208531" y="8302285"/>
            <a:ext cx="3189446" cy="7187489"/>
            <a:chOff x="0" y="0"/>
            <a:chExt cx="4252595" cy="9583318"/>
          </a:xfrm>
        </p:grpSpPr>
        <p:sp>
          <p:nvSpPr>
            <p:cNvPr name="Freeform 19" id="19"/>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9"/>
              <a:stretch>
                <a:fillRect l="-114" t="0" r="-114" b="0"/>
              </a:stretch>
            </a:blipFill>
          </p:spPr>
        </p:sp>
      </p:grpSp>
      <p:sp>
        <p:nvSpPr>
          <p:cNvPr name="TextBox 20" id="20"/>
          <p:cNvSpPr txBox="true"/>
          <p:nvPr/>
        </p:nvSpPr>
        <p:spPr>
          <a:xfrm rot="0">
            <a:off x="5447128" y="259890"/>
            <a:ext cx="8361931" cy="1142990"/>
          </a:xfrm>
          <a:prstGeom prst="rect">
            <a:avLst/>
          </a:prstGeom>
        </p:spPr>
        <p:txBody>
          <a:bodyPr anchor="t" rtlCol="false" tIns="0" lIns="0" bIns="0" rIns="0">
            <a:spAutoFit/>
          </a:bodyPr>
          <a:lstStyle/>
          <a:p>
            <a:pPr algn="ctr">
              <a:lnSpc>
                <a:spcPts val="8400"/>
              </a:lnSpc>
            </a:pPr>
            <a:r>
              <a:rPr lang="en-US" sz="6000" b="true">
                <a:solidFill>
                  <a:srgbClr val="A4835C"/>
                </a:solidFill>
                <a:latin typeface="Canva Sans 1 Bold"/>
                <a:ea typeface="Canva Sans 1 Bold"/>
                <a:cs typeface="Canva Sans 1 Bold"/>
                <a:sym typeface="Canva Sans 1 Bold"/>
              </a:rPr>
              <a:t>CHARGES &amp; FEES</a:t>
            </a:r>
          </a:p>
        </p:txBody>
      </p:sp>
      <p:sp>
        <p:nvSpPr>
          <p:cNvPr name="TextBox 21" id="21"/>
          <p:cNvSpPr txBox="true"/>
          <p:nvPr/>
        </p:nvSpPr>
        <p:spPr>
          <a:xfrm rot="0">
            <a:off x="1028700" y="2365728"/>
            <a:ext cx="16230600" cy="6318250"/>
          </a:xfrm>
          <a:prstGeom prst="rect">
            <a:avLst/>
          </a:prstGeom>
        </p:spPr>
        <p:txBody>
          <a:bodyPr anchor="t" rtlCol="false" tIns="0" lIns="0" bIns="0" rIns="0">
            <a:spAutoFit/>
          </a:bodyPr>
          <a:lstStyle/>
          <a:p>
            <a:pPr algn="ctr">
              <a:lnSpc>
                <a:spcPts val="5599"/>
              </a:lnSpc>
            </a:pPr>
            <a:r>
              <a:rPr lang="en-US" sz="3999" b="true">
                <a:solidFill>
                  <a:srgbClr val="000000"/>
                </a:solidFill>
                <a:latin typeface="Canva Sans 1 Bold"/>
                <a:ea typeface="Canva Sans 1 Bold"/>
                <a:cs typeface="Canva Sans 1 Bold"/>
                <a:sym typeface="Canva Sans 1 Bold"/>
              </a:rPr>
              <a:t>:The charge for the MOODOMETER will be 50 and for the safe space it`ll be 0, as it is the emergency step.</a:t>
            </a:r>
          </a:p>
          <a:p>
            <a:pPr algn="ctr">
              <a:lnSpc>
                <a:spcPts val="5599"/>
              </a:lnSpc>
            </a:pPr>
          </a:p>
          <a:p>
            <a:pPr algn="ctr">
              <a:lnSpc>
                <a:spcPts val="5599"/>
              </a:lnSpc>
            </a:pPr>
            <a:r>
              <a:rPr lang="en-US" sz="3999" b="true">
                <a:solidFill>
                  <a:srgbClr val="000000"/>
                </a:solidFill>
                <a:latin typeface="Canva Sans 1 Bold"/>
                <a:ea typeface="Canva Sans 1 Bold"/>
                <a:cs typeface="Canva Sans 1 Bold"/>
                <a:sym typeface="Canva Sans 1 Bold"/>
              </a:rPr>
              <a:t>:For the counselling step the fee will be 200 for every session &amp; 3 sessions will be compulsory, later depend on the condition of the patient.</a:t>
            </a:r>
          </a:p>
          <a:p>
            <a:pPr algn="ctr">
              <a:lnSpc>
                <a:spcPts val="5599"/>
              </a:lnSpc>
            </a:pPr>
          </a:p>
          <a:p>
            <a:pPr algn="ctr">
              <a:lnSpc>
                <a:spcPts val="5599"/>
              </a:lnSpc>
            </a:pPr>
            <a:r>
              <a:rPr lang="en-US" sz="3999" b="true">
                <a:solidFill>
                  <a:srgbClr val="000000"/>
                </a:solidFill>
                <a:latin typeface="Canva Sans 1 Bold"/>
                <a:ea typeface="Canva Sans 1 Bold"/>
                <a:cs typeface="Canva Sans 1 Bold"/>
                <a:sym typeface="Canva Sans 1 Bold"/>
              </a:rPr>
              <a:t>: Consent for the 3 sessions compulsory will be taken in 1st seating.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64853" y="0"/>
            <a:ext cx="6750013" cy="11172410"/>
            <a:chOff x="0" y="0"/>
            <a:chExt cx="13383111" cy="22151305"/>
          </a:xfrm>
        </p:grpSpPr>
        <p:sp>
          <p:nvSpPr>
            <p:cNvPr name="Freeform 3" id="3"/>
            <p:cNvSpPr/>
            <p:nvPr/>
          </p:nvSpPr>
          <p:spPr>
            <a:xfrm flipH="false" flipV="false" rot="0">
              <a:off x="0" y="0"/>
              <a:ext cx="13383110" cy="22151305"/>
            </a:xfrm>
            <a:custGeom>
              <a:avLst/>
              <a:gdLst/>
              <a:ahLst/>
              <a:cxnLst/>
              <a:rect r="r" b="b" t="t" l="l"/>
              <a:pathLst>
                <a:path h="22151305" w="13383110">
                  <a:moveTo>
                    <a:pt x="0" y="0"/>
                  </a:moveTo>
                  <a:lnTo>
                    <a:pt x="13383110" y="0"/>
                  </a:lnTo>
                  <a:lnTo>
                    <a:pt x="13383110" y="22151305"/>
                  </a:lnTo>
                  <a:lnTo>
                    <a:pt x="0" y="22151305"/>
                  </a:lnTo>
                  <a:lnTo>
                    <a:pt x="0" y="0"/>
                  </a:lnTo>
                  <a:close/>
                </a:path>
              </a:pathLst>
            </a:custGeom>
            <a:blipFill>
              <a:blip r:embed="rId2"/>
              <a:stretch>
                <a:fillRect l="0" t="-18364" r="0" b="-18364"/>
              </a:stretch>
            </a:blipFill>
          </p:spPr>
        </p:sp>
      </p:grpSp>
      <p:grpSp>
        <p:nvGrpSpPr>
          <p:cNvPr name="Group 4" id="4"/>
          <p:cNvGrpSpPr/>
          <p:nvPr/>
        </p:nvGrpSpPr>
        <p:grpSpPr>
          <a:xfrm rot="0">
            <a:off x="13354450" y="-3694100"/>
            <a:ext cx="7220312" cy="6949554"/>
            <a:chOff x="0" y="0"/>
            <a:chExt cx="9627083" cy="9266072"/>
          </a:xfrm>
        </p:grpSpPr>
        <p:sp>
          <p:nvSpPr>
            <p:cNvPr name="Freeform 5" id="5"/>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3"/>
              <a:stretch>
                <a:fillRect l="0" t="-18" r="0" b="-18"/>
              </a:stretch>
            </a:blipFill>
          </p:spPr>
        </p:sp>
      </p:grpSp>
      <p:grpSp>
        <p:nvGrpSpPr>
          <p:cNvPr name="Group 6" id="6"/>
          <p:cNvGrpSpPr/>
          <p:nvPr/>
        </p:nvGrpSpPr>
        <p:grpSpPr>
          <a:xfrm rot="0">
            <a:off x="-56131" y="8454685"/>
            <a:ext cx="3189446" cy="7187489"/>
            <a:chOff x="0" y="0"/>
            <a:chExt cx="4252595" cy="9583318"/>
          </a:xfrm>
        </p:grpSpPr>
        <p:sp>
          <p:nvSpPr>
            <p:cNvPr name="Freeform 7" id="7"/>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4"/>
              <a:stretch>
                <a:fillRect l="-114" t="0" r="-114" b="0"/>
              </a:stretch>
            </a:blipFill>
          </p:spPr>
        </p:sp>
      </p:grpSp>
      <p:grpSp>
        <p:nvGrpSpPr>
          <p:cNvPr name="Group 8" id="8"/>
          <p:cNvGrpSpPr/>
          <p:nvPr/>
        </p:nvGrpSpPr>
        <p:grpSpPr>
          <a:xfrm rot="8862360">
            <a:off x="1376806" y="-2483737"/>
            <a:ext cx="4757814" cy="4126228"/>
            <a:chOff x="0" y="0"/>
            <a:chExt cx="6343752" cy="5501637"/>
          </a:xfrm>
        </p:grpSpPr>
        <p:sp>
          <p:nvSpPr>
            <p:cNvPr name="Freeform 9" id="9"/>
            <p:cNvSpPr/>
            <p:nvPr/>
          </p:nvSpPr>
          <p:spPr>
            <a:xfrm flipH="false" flipV="false" rot="0">
              <a:off x="0" y="0"/>
              <a:ext cx="6343777" cy="5501614"/>
            </a:xfrm>
            <a:custGeom>
              <a:avLst/>
              <a:gdLst/>
              <a:ahLst/>
              <a:cxnLst/>
              <a:rect r="r" b="b" t="t" l="l"/>
              <a:pathLst>
                <a:path h="5501614" w="6343777">
                  <a:moveTo>
                    <a:pt x="0" y="0"/>
                  </a:moveTo>
                  <a:lnTo>
                    <a:pt x="6343777" y="0"/>
                  </a:lnTo>
                  <a:lnTo>
                    <a:pt x="6343777" y="5501614"/>
                  </a:lnTo>
                  <a:lnTo>
                    <a:pt x="0" y="5501614"/>
                  </a:lnTo>
                  <a:lnTo>
                    <a:pt x="0" y="0"/>
                  </a:lnTo>
                  <a:close/>
                </a:path>
              </a:pathLst>
            </a:custGeom>
            <a:blipFill>
              <a:blip r:embed="rId5"/>
              <a:stretch>
                <a:fillRect l="0" t="-6106" r="0" b="-6107"/>
              </a:stretch>
            </a:blipFill>
          </p:spPr>
        </p:sp>
      </p:grpSp>
      <p:grpSp>
        <p:nvGrpSpPr>
          <p:cNvPr name="Group 10" id="10"/>
          <p:cNvGrpSpPr/>
          <p:nvPr/>
        </p:nvGrpSpPr>
        <p:grpSpPr>
          <a:xfrm rot="3880920">
            <a:off x="-978160" y="1236345"/>
            <a:ext cx="2769803" cy="4228700"/>
            <a:chOff x="0" y="0"/>
            <a:chExt cx="3693071" cy="5638267"/>
          </a:xfrm>
        </p:grpSpPr>
        <p:sp>
          <p:nvSpPr>
            <p:cNvPr name="Freeform 11" id="11"/>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6"/>
              <a:stretch>
                <a:fillRect l="0" t="-25" r="-1" b="-25"/>
              </a:stretch>
            </a:blipFill>
          </p:spPr>
        </p:sp>
      </p:grpSp>
      <p:grpSp>
        <p:nvGrpSpPr>
          <p:cNvPr name="Group 12" id="12"/>
          <p:cNvGrpSpPr/>
          <p:nvPr/>
        </p:nvGrpSpPr>
        <p:grpSpPr>
          <a:xfrm rot="2700000">
            <a:off x="-555774" y="-1337681"/>
            <a:ext cx="1568015" cy="3957142"/>
            <a:chOff x="0" y="0"/>
            <a:chExt cx="2090687" cy="5276190"/>
          </a:xfrm>
        </p:grpSpPr>
        <p:sp>
          <p:nvSpPr>
            <p:cNvPr name="Freeform 13" id="1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7"/>
              <a:stretch>
                <a:fillRect l="-29" t="0" r="-29" b="0"/>
              </a:stretch>
            </a:blipFill>
          </p:spPr>
        </p:sp>
      </p:grpSp>
      <p:grpSp>
        <p:nvGrpSpPr>
          <p:cNvPr name="Group 14" id="14"/>
          <p:cNvGrpSpPr/>
          <p:nvPr/>
        </p:nvGrpSpPr>
        <p:grpSpPr>
          <a:xfrm rot="2700000">
            <a:off x="-403374" y="-1185281"/>
            <a:ext cx="1568015" cy="3957142"/>
            <a:chOff x="0" y="0"/>
            <a:chExt cx="2090687" cy="5276190"/>
          </a:xfrm>
        </p:grpSpPr>
        <p:sp>
          <p:nvSpPr>
            <p:cNvPr name="Freeform 15" id="15"/>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7"/>
              <a:stretch>
                <a:fillRect l="-29" t="0" r="-29" b="0"/>
              </a:stretch>
            </a:blipFill>
          </p:spPr>
        </p:sp>
      </p:grpSp>
      <p:grpSp>
        <p:nvGrpSpPr>
          <p:cNvPr name="Group 16" id="16"/>
          <p:cNvGrpSpPr/>
          <p:nvPr/>
        </p:nvGrpSpPr>
        <p:grpSpPr>
          <a:xfrm rot="-5400000">
            <a:off x="13735724" y="9310561"/>
            <a:ext cx="3408069" cy="3303546"/>
            <a:chOff x="0" y="0"/>
            <a:chExt cx="4544092" cy="4404728"/>
          </a:xfrm>
        </p:grpSpPr>
        <p:sp>
          <p:nvSpPr>
            <p:cNvPr name="Freeform 17" id="17"/>
            <p:cNvSpPr/>
            <p:nvPr/>
          </p:nvSpPr>
          <p:spPr>
            <a:xfrm flipH="false" flipV="false" rot="0">
              <a:off x="0" y="0"/>
              <a:ext cx="4544142" cy="4404741"/>
            </a:xfrm>
            <a:custGeom>
              <a:avLst/>
              <a:gdLst/>
              <a:ahLst/>
              <a:cxnLst/>
              <a:rect r="r" b="b" t="t" l="l"/>
              <a:pathLst>
                <a:path h="4404741" w="4544142">
                  <a:moveTo>
                    <a:pt x="0" y="0"/>
                  </a:moveTo>
                  <a:lnTo>
                    <a:pt x="4544142" y="0"/>
                  </a:lnTo>
                  <a:lnTo>
                    <a:pt x="4544142" y="4404741"/>
                  </a:lnTo>
                  <a:lnTo>
                    <a:pt x="0" y="4404741"/>
                  </a:lnTo>
                  <a:lnTo>
                    <a:pt x="0" y="0"/>
                  </a:lnTo>
                  <a:close/>
                </a:path>
              </a:pathLst>
            </a:custGeom>
            <a:blipFill>
              <a:blip r:embed="rId8"/>
              <a:stretch>
                <a:fillRect l="-1" t="-8671" r="0" b="-8670"/>
              </a:stretch>
            </a:blipFill>
          </p:spPr>
        </p:sp>
      </p:grpSp>
      <p:grpSp>
        <p:nvGrpSpPr>
          <p:cNvPr name="Group 18" id="18"/>
          <p:cNvGrpSpPr/>
          <p:nvPr/>
        </p:nvGrpSpPr>
        <p:grpSpPr>
          <a:xfrm rot="0">
            <a:off x="16453533" y="8900027"/>
            <a:ext cx="2840507" cy="2623918"/>
            <a:chOff x="0" y="0"/>
            <a:chExt cx="3787343" cy="3498558"/>
          </a:xfrm>
        </p:grpSpPr>
        <p:sp>
          <p:nvSpPr>
            <p:cNvPr name="Freeform 19" id="19"/>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9"/>
              <a:stretch>
                <a:fillRect l="-22" t="0" r="-21" b="1"/>
              </a:stretch>
            </a:blipFill>
          </p:spPr>
        </p:sp>
      </p:grpSp>
      <p:grpSp>
        <p:nvGrpSpPr>
          <p:cNvPr name="Group 20" id="20"/>
          <p:cNvGrpSpPr/>
          <p:nvPr/>
        </p:nvGrpSpPr>
        <p:grpSpPr>
          <a:xfrm rot="735120">
            <a:off x="17667284" y="6816442"/>
            <a:ext cx="2136486" cy="1973580"/>
            <a:chOff x="0" y="0"/>
            <a:chExt cx="2848648" cy="2631440"/>
          </a:xfrm>
        </p:grpSpPr>
        <p:sp>
          <p:nvSpPr>
            <p:cNvPr name="Freeform 21" id="21"/>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9"/>
              <a:stretch>
                <a:fillRect l="-22" t="0" r="-23" b="0"/>
              </a:stretch>
            </a:blipFill>
          </p:spPr>
        </p:sp>
      </p:grpSp>
      <p:sp>
        <p:nvSpPr>
          <p:cNvPr name="TextBox 22" id="22"/>
          <p:cNvSpPr txBox="true"/>
          <p:nvPr/>
        </p:nvSpPr>
        <p:spPr>
          <a:xfrm rot="0">
            <a:off x="12927948" y="4102868"/>
            <a:ext cx="4945838" cy="3359520"/>
          </a:xfrm>
          <a:prstGeom prst="rect">
            <a:avLst/>
          </a:prstGeom>
        </p:spPr>
        <p:txBody>
          <a:bodyPr anchor="t" rtlCol="false" tIns="0" lIns="0" bIns="0" rIns="0">
            <a:spAutoFit/>
          </a:bodyPr>
          <a:lstStyle/>
          <a:p>
            <a:pPr algn="ctr">
              <a:lnSpc>
                <a:spcPts val="5363"/>
              </a:lnSpc>
            </a:pPr>
            <a:r>
              <a:rPr lang="en-US" sz="3830">
                <a:solidFill>
                  <a:srgbClr val="000000"/>
                </a:solidFill>
                <a:latin typeface="Canva Sans 2"/>
                <a:ea typeface="Canva Sans 2"/>
                <a:cs typeface="Canva Sans 2"/>
                <a:sym typeface="Canva Sans 2"/>
              </a:rPr>
              <a:t>this is not the exact visual representation this is just for the idea purpose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8F1"/>
        </a:solidFill>
      </p:bgPr>
    </p:bg>
    <p:spTree>
      <p:nvGrpSpPr>
        <p:cNvPr id="1" name=""/>
        <p:cNvGrpSpPr/>
        <p:nvPr/>
      </p:nvGrpSpPr>
      <p:grpSpPr>
        <a:xfrm>
          <a:off x="0" y="0"/>
          <a:ext cx="0" cy="0"/>
          <a:chOff x="0" y="0"/>
          <a:chExt cx="0" cy="0"/>
        </a:xfrm>
      </p:grpSpPr>
      <p:grpSp>
        <p:nvGrpSpPr>
          <p:cNvPr name="Group 2" id="2"/>
          <p:cNvGrpSpPr/>
          <p:nvPr/>
        </p:nvGrpSpPr>
        <p:grpSpPr>
          <a:xfrm rot="-5400000">
            <a:off x="13835863" y="9410700"/>
            <a:ext cx="2902991" cy="3303546"/>
            <a:chOff x="0" y="0"/>
            <a:chExt cx="3870655" cy="4404728"/>
          </a:xfrm>
        </p:grpSpPr>
        <p:sp>
          <p:nvSpPr>
            <p:cNvPr name="Freeform 3" id="3"/>
            <p:cNvSpPr/>
            <p:nvPr/>
          </p:nvSpPr>
          <p:spPr>
            <a:xfrm flipH="false" flipV="false" rot="0">
              <a:off x="0" y="0"/>
              <a:ext cx="3870706" cy="4404741"/>
            </a:xfrm>
            <a:custGeom>
              <a:avLst/>
              <a:gdLst/>
              <a:ahLst/>
              <a:cxnLst/>
              <a:rect r="r" b="b" t="t" l="l"/>
              <a:pathLst>
                <a:path h="4404741" w="3870706">
                  <a:moveTo>
                    <a:pt x="0" y="0"/>
                  </a:moveTo>
                  <a:lnTo>
                    <a:pt x="3870706" y="0"/>
                  </a:lnTo>
                  <a:lnTo>
                    <a:pt x="3870706" y="4404741"/>
                  </a:lnTo>
                  <a:lnTo>
                    <a:pt x="0" y="4404741"/>
                  </a:lnTo>
                  <a:lnTo>
                    <a:pt x="0" y="0"/>
                  </a:lnTo>
                  <a:close/>
                </a:path>
              </a:pathLst>
            </a:custGeom>
            <a:blipFill>
              <a:blip r:embed="rId2"/>
              <a:stretch>
                <a:fillRect l="-25" t="0" r="-23" b="0"/>
              </a:stretch>
            </a:blipFill>
          </p:spPr>
        </p:sp>
      </p:grpSp>
      <p:grpSp>
        <p:nvGrpSpPr>
          <p:cNvPr name="Group 4" id="4"/>
          <p:cNvGrpSpPr/>
          <p:nvPr/>
        </p:nvGrpSpPr>
        <p:grpSpPr>
          <a:xfrm rot="0">
            <a:off x="16301133" y="8747627"/>
            <a:ext cx="2840507" cy="2623918"/>
            <a:chOff x="0" y="0"/>
            <a:chExt cx="3787343" cy="3498558"/>
          </a:xfrm>
        </p:grpSpPr>
        <p:sp>
          <p:nvSpPr>
            <p:cNvPr name="Freeform 5" id="5"/>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3"/>
              <a:stretch>
                <a:fillRect l="-22" t="0" r="-21" b="1"/>
              </a:stretch>
            </a:blipFill>
          </p:spPr>
        </p:sp>
      </p:grpSp>
      <p:grpSp>
        <p:nvGrpSpPr>
          <p:cNvPr name="Group 6" id="6"/>
          <p:cNvGrpSpPr/>
          <p:nvPr/>
        </p:nvGrpSpPr>
        <p:grpSpPr>
          <a:xfrm rot="735120">
            <a:off x="17514884" y="6664042"/>
            <a:ext cx="2136486" cy="1973580"/>
            <a:chOff x="0" y="0"/>
            <a:chExt cx="2848648" cy="2631440"/>
          </a:xfrm>
        </p:grpSpPr>
        <p:sp>
          <p:nvSpPr>
            <p:cNvPr name="Freeform 7" id="7"/>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3"/>
              <a:stretch>
                <a:fillRect l="-22" t="0" r="-23" b="0"/>
              </a:stretch>
            </a:blipFill>
          </p:spPr>
        </p:sp>
      </p:grpSp>
      <p:grpSp>
        <p:nvGrpSpPr>
          <p:cNvPr name="Group 8" id="8"/>
          <p:cNvGrpSpPr/>
          <p:nvPr/>
        </p:nvGrpSpPr>
        <p:grpSpPr>
          <a:xfrm rot="3880920">
            <a:off x="-1130560" y="1083945"/>
            <a:ext cx="2769803" cy="4228700"/>
            <a:chOff x="0" y="0"/>
            <a:chExt cx="3693071" cy="5638267"/>
          </a:xfrm>
        </p:grpSpPr>
        <p:sp>
          <p:nvSpPr>
            <p:cNvPr name="Freeform 9" id="9"/>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4"/>
              <a:stretch>
                <a:fillRect l="0" t="-25" r="-1" b="-25"/>
              </a:stretch>
            </a:blipFill>
          </p:spPr>
        </p:sp>
      </p:grpSp>
      <p:grpSp>
        <p:nvGrpSpPr>
          <p:cNvPr name="Group 10" id="10"/>
          <p:cNvGrpSpPr/>
          <p:nvPr/>
        </p:nvGrpSpPr>
        <p:grpSpPr>
          <a:xfrm rot="2700000">
            <a:off x="-708174" y="-1490081"/>
            <a:ext cx="1568015" cy="3957142"/>
            <a:chOff x="0" y="0"/>
            <a:chExt cx="2090687" cy="5276190"/>
          </a:xfrm>
        </p:grpSpPr>
        <p:sp>
          <p:nvSpPr>
            <p:cNvPr name="Freeform 11" id="11"/>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5"/>
              <a:stretch>
                <a:fillRect l="-29" t="0" r="-29" b="0"/>
              </a:stretch>
            </a:blipFill>
          </p:spPr>
        </p:sp>
      </p:grpSp>
      <p:grpSp>
        <p:nvGrpSpPr>
          <p:cNvPr name="Group 12" id="12"/>
          <p:cNvGrpSpPr/>
          <p:nvPr/>
        </p:nvGrpSpPr>
        <p:grpSpPr>
          <a:xfrm rot="8862360">
            <a:off x="1360056" y="-2675411"/>
            <a:ext cx="4757814" cy="4634027"/>
            <a:chOff x="0" y="0"/>
            <a:chExt cx="6343752" cy="6178702"/>
          </a:xfrm>
        </p:grpSpPr>
        <p:sp>
          <p:nvSpPr>
            <p:cNvPr name="Freeform 13" id="13"/>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6"/>
              <a:stretch>
                <a:fillRect l="-42" t="0" r="-41" b="0"/>
              </a:stretch>
            </a:blipFill>
          </p:spPr>
        </p:sp>
      </p:grpSp>
      <p:grpSp>
        <p:nvGrpSpPr>
          <p:cNvPr name="Group 14" id="14"/>
          <p:cNvGrpSpPr/>
          <p:nvPr/>
        </p:nvGrpSpPr>
        <p:grpSpPr>
          <a:xfrm rot="0">
            <a:off x="13202050" y="-3846500"/>
            <a:ext cx="7220312" cy="6949554"/>
            <a:chOff x="0" y="0"/>
            <a:chExt cx="9627083" cy="9266072"/>
          </a:xfrm>
        </p:grpSpPr>
        <p:sp>
          <p:nvSpPr>
            <p:cNvPr name="Freeform 15" id="15"/>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7"/>
              <a:stretch>
                <a:fillRect l="0" t="-18" r="0" b="-18"/>
              </a:stretch>
            </a:blipFill>
          </p:spPr>
        </p:sp>
      </p:grpSp>
      <p:grpSp>
        <p:nvGrpSpPr>
          <p:cNvPr name="Group 16" id="16"/>
          <p:cNvGrpSpPr/>
          <p:nvPr/>
        </p:nvGrpSpPr>
        <p:grpSpPr>
          <a:xfrm rot="0">
            <a:off x="-208531" y="8302285"/>
            <a:ext cx="3189446" cy="7187489"/>
            <a:chOff x="0" y="0"/>
            <a:chExt cx="4252595" cy="9583318"/>
          </a:xfrm>
        </p:grpSpPr>
        <p:sp>
          <p:nvSpPr>
            <p:cNvPr name="Freeform 17" id="17"/>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8"/>
              <a:stretch>
                <a:fillRect l="-114" t="0" r="-114" b="0"/>
              </a:stretch>
            </a:blipFill>
          </p:spPr>
        </p:sp>
      </p:grpSp>
      <p:sp>
        <p:nvSpPr>
          <p:cNvPr name="TextBox 18" id="18"/>
          <p:cNvSpPr txBox="true"/>
          <p:nvPr/>
        </p:nvSpPr>
        <p:spPr>
          <a:xfrm rot="0">
            <a:off x="569295" y="-900352"/>
            <a:ext cx="17149410" cy="9991896"/>
          </a:xfrm>
          <a:prstGeom prst="rect">
            <a:avLst/>
          </a:prstGeom>
        </p:spPr>
        <p:txBody>
          <a:bodyPr anchor="t" rtlCol="false" tIns="0" lIns="0" bIns="0" rIns="0">
            <a:spAutoFit/>
          </a:bodyPr>
          <a:lstStyle/>
          <a:p>
            <a:pPr algn="ctr">
              <a:lnSpc>
                <a:spcPts val="4189"/>
              </a:lnSpc>
            </a:pPr>
            <a:r>
              <a:rPr lang="en-US" sz="2993" b="true">
                <a:solidFill>
                  <a:srgbClr val="000000"/>
                </a:solidFill>
                <a:latin typeface="Canva Sans 1 Bold"/>
                <a:ea typeface="Canva Sans 1 Bold"/>
                <a:cs typeface="Canva Sans 1 Bold"/>
                <a:sym typeface="Canva Sans 1 Bold"/>
              </a:rPr>
              <a:t>*MOOD-O-METER FLOW*</a:t>
            </a:r>
          </a:p>
          <a:p>
            <a:pPr algn="ctr">
              <a:lnSpc>
                <a:spcPts val="4189"/>
              </a:lnSpc>
            </a:pPr>
          </a:p>
          <a:p>
            <a:pPr algn="ctr">
              <a:lnSpc>
                <a:spcPts val="4189"/>
              </a:lnSpc>
            </a:pPr>
            <a:r>
              <a:rPr lang="en-US" sz="2993" b="true">
                <a:solidFill>
                  <a:srgbClr val="000000"/>
                </a:solidFill>
                <a:latin typeface="Canva Sans 1 Bold"/>
                <a:ea typeface="Canva Sans 1 Bold"/>
                <a:cs typeface="Canva Sans 1 Bold"/>
                <a:sym typeface="Canva Sans 1 Bold"/>
              </a:rPr>
              <a:t>1.  *MOOD-O-METER*</a:t>
            </a:r>
          </a:p>
          <a:p>
            <a:pPr algn="ctr">
              <a:lnSpc>
                <a:spcPts val="4189"/>
              </a:lnSpc>
            </a:pPr>
            <a:r>
              <a:rPr lang="en-US" sz="2993" b="true">
                <a:solidFill>
                  <a:srgbClr val="000000"/>
                </a:solidFill>
                <a:latin typeface="Canva Sans 1 Bold"/>
                <a:ea typeface="Canva Sans 1 Bold"/>
                <a:cs typeface="Canva Sans 1 Bold"/>
                <a:sym typeface="Canva Sans 1 Bold"/>
              </a:rPr>
              <a:t>    ↓</a:t>
            </a:r>
          </a:p>
          <a:p>
            <a:pPr algn="ctr">
              <a:lnSpc>
                <a:spcPts val="4189"/>
              </a:lnSpc>
            </a:pPr>
            <a:r>
              <a:rPr lang="en-US" sz="2993" b="true">
                <a:solidFill>
                  <a:srgbClr val="000000"/>
                </a:solidFill>
                <a:latin typeface="Canva Sans 1 Bold"/>
                <a:ea typeface="Canva Sans 1 Bold"/>
                <a:cs typeface="Canva Sans 1 Bold"/>
                <a:sym typeface="Canva Sans 1 Bold"/>
              </a:rPr>
              <a:t>2.  *Mood Check-In*</a:t>
            </a:r>
          </a:p>
          <a:p>
            <a:pPr algn="ctr">
              <a:lnSpc>
                <a:spcPts val="4189"/>
              </a:lnSpc>
            </a:pPr>
            <a:r>
              <a:rPr lang="en-US" sz="2993" b="true">
                <a:solidFill>
                  <a:srgbClr val="000000"/>
                </a:solidFill>
                <a:latin typeface="Canva Sans 1 Bold"/>
                <a:ea typeface="Canva Sans 1 Bold"/>
                <a:cs typeface="Canva Sans 1 Bold"/>
                <a:sym typeface="Canva Sans 1 Bold"/>
              </a:rPr>
              <a:t>    ↓</a:t>
            </a:r>
          </a:p>
          <a:p>
            <a:pPr algn="ctr">
              <a:lnSpc>
                <a:spcPts val="4189"/>
              </a:lnSpc>
            </a:pPr>
            <a:r>
              <a:rPr lang="en-US" sz="2993" b="true">
                <a:solidFill>
                  <a:srgbClr val="000000"/>
                </a:solidFill>
                <a:latin typeface="Canva Sans 1 Bold"/>
                <a:ea typeface="Canva Sans 1 Bold"/>
                <a:cs typeface="Canva Sans 1 Bold"/>
                <a:sym typeface="Canva Sans 1 Bold"/>
              </a:rPr>
              <a:t>3.  *AI Questionnaire* (by voice &amp; facial expression)</a:t>
            </a:r>
          </a:p>
          <a:p>
            <a:pPr algn="ctr">
              <a:lnSpc>
                <a:spcPts val="4189"/>
              </a:lnSpc>
            </a:pPr>
            <a:r>
              <a:rPr lang="en-US" sz="2993" b="true">
                <a:solidFill>
                  <a:srgbClr val="000000"/>
                </a:solidFill>
                <a:latin typeface="Canva Sans 1 Bold"/>
                <a:ea typeface="Canva Sans 1 Bold"/>
                <a:cs typeface="Canva Sans 1 Bold"/>
                <a:sym typeface="Canva Sans 1 Bold"/>
              </a:rPr>
              <a:t>    ↓</a:t>
            </a:r>
          </a:p>
          <a:p>
            <a:pPr algn="ctr">
              <a:lnSpc>
                <a:spcPts val="4189"/>
              </a:lnSpc>
            </a:pPr>
            <a:r>
              <a:rPr lang="en-US" sz="2993" b="true">
                <a:solidFill>
                  <a:srgbClr val="000000"/>
                </a:solidFill>
                <a:latin typeface="Canva Sans 1 Bold"/>
                <a:ea typeface="Canva Sans 1 Bold"/>
                <a:cs typeface="Canva Sans 1 Bold"/>
                <a:sym typeface="Canva Sans 1 Bold"/>
              </a:rPr>
              <a:t>4.  *Scorecard (Indicator)*</a:t>
            </a:r>
          </a:p>
          <a:p>
            <a:pPr algn="ctr">
              <a:lnSpc>
                <a:spcPts val="4189"/>
              </a:lnSpc>
            </a:pPr>
            <a:r>
              <a:rPr lang="en-US" sz="2993" b="true">
                <a:solidFill>
                  <a:srgbClr val="000000"/>
                </a:solidFill>
                <a:latin typeface="Canva Sans 1 Bold"/>
                <a:ea typeface="Canva Sans 1 Bold"/>
                <a:cs typeface="Canva Sans 1 Bold"/>
                <a:sym typeface="Canva Sans 1 Bold"/>
              </a:rPr>
              <a:t>    ↓</a:t>
            </a:r>
          </a:p>
          <a:p>
            <a:pPr algn="ctr">
              <a:lnSpc>
                <a:spcPts val="4189"/>
              </a:lnSpc>
            </a:pPr>
            <a:r>
              <a:rPr lang="en-US" sz="2993" b="true">
                <a:solidFill>
                  <a:srgbClr val="000000"/>
                </a:solidFill>
                <a:latin typeface="Canva Sans 1 Bold"/>
                <a:ea typeface="Canva Sans 1 Bold"/>
                <a:cs typeface="Canva Sans 1 Bold"/>
                <a:sym typeface="Canva Sans 1 Bold"/>
              </a:rPr>
              <a:t>    *Splits into 3 zones:*</a:t>
            </a:r>
          </a:p>
          <a:p>
            <a:pPr algn="ctr">
              <a:lnSpc>
                <a:spcPts val="4189"/>
              </a:lnSpc>
            </a:pPr>
          </a:p>
          <a:p>
            <a:pPr algn="ctr">
              <a:lnSpc>
                <a:spcPts val="4189"/>
              </a:lnSpc>
            </a:pPr>
            <a:r>
              <a:rPr lang="en-US" sz="2993" b="true">
                <a:solidFill>
                  <a:srgbClr val="307834"/>
                </a:solidFill>
                <a:latin typeface="Canva Sans 1 Bold"/>
                <a:ea typeface="Canva Sans 1 Bold"/>
                <a:cs typeface="Canva Sans 1 Bold"/>
                <a:sym typeface="Canva Sans 1 Bold"/>
              </a:rPr>
              <a:t>  </a:t>
            </a:r>
            <a:r>
              <a:rPr lang="en-US" sz="2993" b="true">
                <a:solidFill>
                  <a:srgbClr val="69AA64"/>
                </a:solidFill>
                <a:latin typeface="Canva Sans 1 Bold"/>
                <a:ea typeface="Canva Sans 1 Bold"/>
                <a:cs typeface="Canva Sans 1 Bold"/>
                <a:sym typeface="Canva Sans 1 Bold"/>
              </a:rPr>
              <a:t>  -   *GREEN (10-8):* Wellness activity</a:t>
            </a:r>
          </a:p>
          <a:p>
            <a:pPr algn="ctr">
              <a:lnSpc>
                <a:spcPts val="4189"/>
              </a:lnSpc>
            </a:pPr>
            <a:r>
              <a:rPr lang="en-US" sz="2993" b="true">
                <a:solidFill>
                  <a:srgbClr val="E3DB15"/>
                </a:solidFill>
                <a:latin typeface="Canva Sans 1 Bold"/>
                <a:ea typeface="Canva Sans 1 Bold"/>
                <a:cs typeface="Canva Sans 1 Bold"/>
                <a:sym typeface="Canva Sans 1 Bold"/>
              </a:rPr>
              <a:t>    -   *YELLOW (8-4):* Self-help resources → (If they want counselling) → Counsellor</a:t>
            </a:r>
          </a:p>
          <a:p>
            <a:pPr algn="ctr">
              <a:lnSpc>
                <a:spcPts val="4189"/>
              </a:lnSpc>
            </a:pPr>
            <a:r>
              <a:rPr lang="en-US" sz="2993" b="true">
                <a:solidFill>
                  <a:srgbClr val="000000"/>
                </a:solidFill>
                <a:latin typeface="Canva Sans 1 Bold"/>
                <a:ea typeface="Canva Sans 1 Bold"/>
                <a:cs typeface="Canva Sans 1 Bold"/>
                <a:sym typeface="Canva Sans 1 Bold"/>
              </a:rPr>
              <a:t>    -   </a:t>
            </a:r>
            <a:r>
              <a:rPr lang="en-US" sz="2993" b="true">
                <a:solidFill>
                  <a:srgbClr val="F81C1C"/>
                </a:solidFill>
                <a:latin typeface="Canva Sans 1 Bold"/>
                <a:ea typeface="Canva Sans 1 Bold"/>
                <a:cs typeface="Canva Sans 1 Bold"/>
                <a:sym typeface="Canva Sans 1 Bold"/>
              </a:rPr>
              <a:t>*RED (4-0):* Danger / Red Zone → Needs emergency help → Human resource → Counsello</a:t>
            </a:r>
            <a:r>
              <a:rPr lang="en-US" sz="2993" b="true">
                <a:solidFill>
                  <a:srgbClr val="000000"/>
                </a:solidFill>
                <a:latin typeface="Canva Sans 1 Bold"/>
                <a:ea typeface="Canva Sans 1 Bold"/>
                <a:cs typeface="Canva Sans 1 Bold"/>
                <a:sym typeface="Canva Sans 1 Bold"/>
              </a:rPr>
              <a:t>r</a:t>
            </a:r>
          </a:p>
          <a:p>
            <a:pPr algn="ctr">
              <a:lnSpc>
                <a:spcPts val="4189"/>
              </a:lnSpc>
            </a:pPr>
          </a:p>
          <a:p>
            <a:pPr algn="ctr">
              <a:lnSpc>
                <a:spcPts val="4189"/>
              </a:lnSpc>
            </a:pPr>
            <a:r>
              <a:rPr lang="en-US" sz="2993" b="true">
                <a:solidFill>
                  <a:srgbClr val="000000"/>
                </a:solidFill>
                <a:latin typeface="Canva Sans 1 Bold"/>
                <a:ea typeface="Canva Sans 1 Bold"/>
                <a:cs typeface="Canva Sans 1 Bold"/>
                <a:sym typeface="Canva Sans 1 Bold"/>
              </a:rPr>
              <a:t>5.  *Counsellor*</a:t>
            </a:r>
          </a:p>
          <a:p>
            <a:pPr algn="ctr">
              <a:lnSpc>
                <a:spcPts val="4189"/>
              </a:lnSpc>
            </a:pPr>
            <a:r>
              <a:rPr lang="en-US" sz="2993" b="true">
                <a:solidFill>
                  <a:srgbClr val="000000"/>
                </a:solidFill>
                <a:latin typeface="Canva Sans 1 Bold"/>
                <a:ea typeface="Canva Sans 1 Bold"/>
                <a:cs typeface="Canva Sans 1 Bold"/>
                <a:sym typeface="Canva Sans 1 Bold"/>
              </a:rPr>
              <a:t>    ↓</a:t>
            </a:r>
          </a:p>
          <a:p>
            <a:pPr algn="ctr">
              <a:lnSpc>
                <a:spcPts val="4189"/>
              </a:lnSpc>
            </a:pPr>
            <a:r>
              <a:rPr lang="en-US" sz="2993" b="true">
                <a:solidFill>
                  <a:srgbClr val="000000"/>
                </a:solidFill>
                <a:latin typeface="Canva Sans 1 Bold"/>
                <a:ea typeface="Canva Sans 1 Bold"/>
                <a:cs typeface="Canva Sans 1 Bold"/>
                <a:sym typeface="Canva Sans 1 Bold"/>
              </a:rPr>
              <a:t>6.  *Professional Care*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8F1"/>
        </a:solidFill>
      </p:bgPr>
    </p:bg>
    <p:spTree>
      <p:nvGrpSpPr>
        <p:cNvPr id="1" name=""/>
        <p:cNvGrpSpPr/>
        <p:nvPr/>
      </p:nvGrpSpPr>
      <p:grpSpPr>
        <a:xfrm>
          <a:off x="0" y="0"/>
          <a:ext cx="0" cy="0"/>
          <a:chOff x="0" y="0"/>
          <a:chExt cx="0" cy="0"/>
        </a:xfrm>
      </p:grpSpPr>
      <p:grpSp>
        <p:nvGrpSpPr>
          <p:cNvPr name="Group 2" id="2"/>
          <p:cNvGrpSpPr/>
          <p:nvPr/>
        </p:nvGrpSpPr>
        <p:grpSpPr>
          <a:xfrm rot="0">
            <a:off x="13202050" y="-3846500"/>
            <a:ext cx="7220312" cy="6949554"/>
            <a:chOff x="0" y="0"/>
            <a:chExt cx="9627083" cy="9266072"/>
          </a:xfrm>
        </p:grpSpPr>
        <p:sp>
          <p:nvSpPr>
            <p:cNvPr name="Freeform 3" id="3"/>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2"/>
              <a:stretch>
                <a:fillRect l="0" t="-18" r="0" b="-18"/>
              </a:stretch>
            </a:blipFill>
          </p:spPr>
        </p:sp>
      </p:grpSp>
      <p:grpSp>
        <p:nvGrpSpPr>
          <p:cNvPr name="Group 4" id="4"/>
          <p:cNvGrpSpPr/>
          <p:nvPr/>
        </p:nvGrpSpPr>
        <p:grpSpPr>
          <a:xfrm rot="0">
            <a:off x="13354450" y="-3694100"/>
            <a:ext cx="7220312" cy="6949554"/>
            <a:chOff x="0" y="0"/>
            <a:chExt cx="9627083" cy="9266072"/>
          </a:xfrm>
        </p:grpSpPr>
        <p:sp>
          <p:nvSpPr>
            <p:cNvPr name="Freeform 5" id="5"/>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2"/>
              <a:stretch>
                <a:fillRect l="0" t="-18" r="0" b="-18"/>
              </a:stretch>
            </a:blipFill>
          </p:spPr>
        </p:sp>
      </p:grpSp>
      <p:grpSp>
        <p:nvGrpSpPr>
          <p:cNvPr name="Group 6" id="6"/>
          <p:cNvGrpSpPr/>
          <p:nvPr/>
        </p:nvGrpSpPr>
        <p:grpSpPr>
          <a:xfrm rot="0">
            <a:off x="13506850" y="-3541700"/>
            <a:ext cx="7220312" cy="6949554"/>
            <a:chOff x="0" y="0"/>
            <a:chExt cx="9627083" cy="9266072"/>
          </a:xfrm>
        </p:grpSpPr>
        <p:sp>
          <p:nvSpPr>
            <p:cNvPr name="Freeform 7" id="7"/>
            <p:cNvSpPr/>
            <p:nvPr/>
          </p:nvSpPr>
          <p:spPr>
            <a:xfrm flipH="false" flipV="false" rot="0">
              <a:off x="0" y="0"/>
              <a:ext cx="9627108" cy="9266047"/>
            </a:xfrm>
            <a:custGeom>
              <a:avLst/>
              <a:gdLst/>
              <a:ahLst/>
              <a:cxnLst/>
              <a:rect r="r" b="b" t="t" l="l"/>
              <a:pathLst>
                <a:path h="9266047" w="9627108">
                  <a:moveTo>
                    <a:pt x="0" y="0"/>
                  </a:moveTo>
                  <a:lnTo>
                    <a:pt x="9627108" y="0"/>
                  </a:lnTo>
                  <a:lnTo>
                    <a:pt x="9627108" y="9266047"/>
                  </a:lnTo>
                  <a:lnTo>
                    <a:pt x="0" y="9266047"/>
                  </a:lnTo>
                  <a:lnTo>
                    <a:pt x="0" y="0"/>
                  </a:lnTo>
                  <a:close/>
                </a:path>
              </a:pathLst>
            </a:custGeom>
            <a:blipFill>
              <a:blip r:embed="rId2"/>
              <a:stretch>
                <a:fillRect l="0" t="-18" r="0" b="-18"/>
              </a:stretch>
            </a:blipFill>
          </p:spPr>
        </p:sp>
      </p:grpSp>
      <p:grpSp>
        <p:nvGrpSpPr>
          <p:cNvPr name="Group 8" id="8"/>
          <p:cNvGrpSpPr/>
          <p:nvPr/>
        </p:nvGrpSpPr>
        <p:grpSpPr>
          <a:xfrm rot="0">
            <a:off x="16301133" y="8747627"/>
            <a:ext cx="2840507" cy="2623918"/>
            <a:chOff x="0" y="0"/>
            <a:chExt cx="3787343" cy="3498558"/>
          </a:xfrm>
        </p:grpSpPr>
        <p:sp>
          <p:nvSpPr>
            <p:cNvPr name="Freeform 9" id="9"/>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3"/>
              <a:stretch>
                <a:fillRect l="-22" t="0" r="-21" b="1"/>
              </a:stretch>
            </a:blipFill>
          </p:spPr>
        </p:sp>
      </p:grpSp>
      <p:grpSp>
        <p:nvGrpSpPr>
          <p:cNvPr name="Group 10" id="10"/>
          <p:cNvGrpSpPr/>
          <p:nvPr/>
        </p:nvGrpSpPr>
        <p:grpSpPr>
          <a:xfrm rot="0">
            <a:off x="16453533" y="8900027"/>
            <a:ext cx="2840507" cy="2623918"/>
            <a:chOff x="0" y="0"/>
            <a:chExt cx="3787343" cy="3498558"/>
          </a:xfrm>
        </p:grpSpPr>
        <p:sp>
          <p:nvSpPr>
            <p:cNvPr name="Freeform 11" id="11"/>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3"/>
              <a:stretch>
                <a:fillRect l="-22" t="0" r="-21" b="1"/>
              </a:stretch>
            </a:blipFill>
          </p:spPr>
        </p:sp>
      </p:grpSp>
      <p:grpSp>
        <p:nvGrpSpPr>
          <p:cNvPr name="Group 12" id="12"/>
          <p:cNvGrpSpPr/>
          <p:nvPr/>
        </p:nvGrpSpPr>
        <p:grpSpPr>
          <a:xfrm rot="0">
            <a:off x="16605933" y="9052427"/>
            <a:ext cx="2840507" cy="2623918"/>
            <a:chOff x="0" y="0"/>
            <a:chExt cx="3787343" cy="3498558"/>
          </a:xfrm>
        </p:grpSpPr>
        <p:sp>
          <p:nvSpPr>
            <p:cNvPr name="Freeform 13" id="13"/>
            <p:cNvSpPr/>
            <p:nvPr/>
          </p:nvSpPr>
          <p:spPr>
            <a:xfrm flipH="false" flipV="false" rot="0">
              <a:off x="0" y="0"/>
              <a:ext cx="3787394" cy="3498596"/>
            </a:xfrm>
            <a:custGeom>
              <a:avLst/>
              <a:gdLst/>
              <a:ahLst/>
              <a:cxnLst/>
              <a:rect r="r" b="b" t="t" l="l"/>
              <a:pathLst>
                <a:path h="3498596" w="3787394">
                  <a:moveTo>
                    <a:pt x="0" y="0"/>
                  </a:moveTo>
                  <a:lnTo>
                    <a:pt x="3787394" y="0"/>
                  </a:lnTo>
                  <a:lnTo>
                    <a:pt x="3787394" y="3498596"/>
                  </a:lnTo>
                  <a:lnTo>
                    <a:pt x="0" y="3498596"/>
                  </a:lnTo>
                  <a:lnTo>
                    <a:pt x="0" y="0"/>
                  </a:lnTo>
                  <a:close/>
                </a:path>
              </a:pathLst>
            </a:custGeom>
            <a:blipFill>
              <a:blip r:embed="rId3"/>
              <a:stretch>
                <a:fillRect l="-22" t="0" r="-21" b="1"/>
              </a:stretch>
            </a:blipFill>
          </p:spPr>
        </p:sp>
      </p:grpSp>
      <p:grpSp>
        <p:nvGrpSpPr>
          <p:cNvPr name="Group 14" id="14"/>
          <p:cNvGrpSpPr/>
          <p:nvPr/>
        </p:nvGrpSpPr>
        <p:grpSpPr>
          <a:xfrm rot="-5400000">
            <a:off x="13480380" y="9055227"/>
            <a:ext cx="3613947" cy="3303546"/>
            <a:chOff x="0" y="0"/>
            <a:chExt cx="4818596" cy="4404728"/>
          </a:xfrm>
        </p:grpSpPr>
        <p:sp>
          <p:nvSpPr>
            <p:cNvPr name="Freeform 15" id="15"/>
            <p:cNvSpPr/>
            <p:nvPr/>
          </p:nvSpPr>
          <p:spPr>
            <a:xfrm flipH="false" flipV="false" rot="0">
              <a:off x="0" y="0"/>
              <a:ext cx="4818634" cy="4404741"/>
            </a:xfrm>
            <a:custGeom>
              <a:avLst/>
              <a:gdLst/>
              <a:ahLst/>
              <a:cxnLst/>
              <a:rect r="r" b="b" t="t" l="l"/>
              <a:pathLst>
                <a:path h="4404741" w="4818634">
                  <a:moveTo>
                    <a:pt x="0" y="0"/>
                  </a:moveTo>
                  <a:lnTo>
                    <a:pt x="4818634" y="0"/>
                  </a:lnTo>
                  <a:lnTo>
                    <a:pt x="4818634" y="4404741"/>
                  </a:lnTo>
                  <a:lnTo>
                    <a:pt x="0" y="4404741"/>
                  </a:lnTo>
                  <a:lnTo>
                    <a:pt x="0" y="0"/>
                  </a:lnTo>
                  <a:close/>
                </a:path>
              </a:pathLst>
            </a:custGeom>
            <a:blipFill>
              <a:blip r:embed="rId4"/>
              <a:stretch>
                <a:fillRect l="0" t="-12213" r="0" b="-12213"/>
              </a:stretch>
            </a:blipFill>
          </p:spPr>
        </p:sp>
      </p:grpSp>
      <p:grpSp>
        <p:nvGrpSpPr>
          <p:cNvPr name="Group 16" id="16"/>
          <p:cNvGrpSpPr/>
          <p:nvPr/>
        </p:nvGrpSpPr>
        <p:grpSpPr>
          <a:xfrm rot="735120">
            <a:off x="17514884" y="6664042"/>
            <a:ext cx="2136486" cy="1973580"/>
            <a:chOff x="0" y="0"/>
            <a:chExt cx="2848648" cy="2631440"/>
          </a:xfrm>
        </p:grpSpPr>
        <p:sp>
          <p:nvSpPr>
            <p:cNvPr name="Freeform 17" id="17"/>
            <p:cNvSpPr/>
            <p:nvPr/>
          </p:nvSpPr>
          <p:spPr>
            <a:xfrm flipH="false" flipV="false" rot="0">
              <a:off x="0" y="0"/>
              <a:ext cx="2848610" cy="2631440"/>
            </a:xfrm>
            <a:custGeom>
              <a:avLst/>
              <a:gdLst/>
              <a:ahLst/>
              <a:cxnLst/>
              <a:rect r="r" b="b" t="t" l="l"/>
              <a:pathLst>
                <a:path h="2631440" w="2848610">
                  <a:moveTo>
                    <a:pt x="0" y="0"/>
                  </a:moveTo>
                  <a:lnTo>
                    <a:pt x="2848610" y="0"/>
                  </a:lnTo>
                  <a:lnTo>
                    <a:pt x="2848610" y="2631440"/>
                  </a:lnTo>
                  <a:lnTo>
                    <a:pt x="0" y="2631440"/>
                  </a:lnTo>
                  <a:lnTo>
                    <a:pt x="0" y="0"/>
                  </a:lnTo>
                  <a:close/>
                </a:path>
              </a:pathLst>
            </a:custGeom>
            <a:blipFill>
              <a:blip r:embed="rId3"/>
              <a:stretch>
                <a:fillRect l="-22" t="0" r="-23" b="0"/>
              </a:stretch>
            </a:blipFill>
          </p:spPr>
        </p:sp>
      </p:grpSp>
      <p:grpSp>
        <p:nvGrpSpPr>
          <p:cNvPr name="Group 18" id="18"/>
          <p:cNvGrpSpPr/>
          <p:nvPr/>
        </p:nvGrpSpPr>
        <p:grpSpPr>
          <a:xfrm rot="3880920">
            <a:off x="-1130560" y="1083945"/>
            <a:ext cx="2769803" cy="4228700"/>
            <a:chOff x="0" y="0"/>
            <a:chExt cx="3693071" cy="5638267"/>
          </a:xfrm>
        </p:grpSpPr>
        <p:sp>
          <p:nvSpPr>
            <p:cNvPr name="Freeform 19" id="19"/>
            <p:cNvSpPr/>
            <p:nvPr/>
          </p:nvSpPr>
          <p:spPr>
            <a:xfrm flipH="true" flipV="false" rot="0">
              <a:off x="0" y="0"/>
              <a:ext cx="3693033" cy="5638292"/>
            </a:xfrm>
            <a:custGeom>
              <a:avLst/>
              <a:gdLst/>
              <a:ahLst/>
              <a:cxnLst/>
              <a:rect r="r" b="b" t="t" l="l"/>
              <a:pathLst>
                <a:path h="5638292" w="3693033">
                  <a:moveTo>
                    <a:pt x="3693033" y="0"/>
                  </a:moveTo>
                  <a:lnTo>
                    <a:pt x="0" y="0"/>
                  </a:lnTo>
                  <a:lnTo>
                    <a:pt x="0" y="5638292"/>
                  </a:lnTo>
                  <a:lnTo>
                    <a:pt x="3693033" y="5638292"/>
                  </a:lnTo>
                  <a:lnTo>
                    <a:pt x="3693033" y="0"/>
                  </a:lnTo>
                  <a:close/>
                </a:path>
              </a:pathLst>
            </a:custGeom>
            <a:blipFill>
              <a:blip r:embed="rId5"/>
              <a:stretch>
                <a:fillRect l="0" t="-25" r="-1" b="-25"/>
              </a:stretch>
            </a:blipFill>
          </p:spPr>
        </p:sp>
      </p:grpSp>
      <p:grpSp>
        <p:nvGrpSpPr>
          <p:cNvPr name="Group 20" id="20"/>
          <p:cNvGrpSpPr/>
          <p:nvPr/>
        </p:nvGrpSpPr>
        <p:grpSpPr>
          <a:xfrm rot="8862360">
            <a:off x="1360056" y="-2675411"/>
            <a:ext cx="4757814" cy="4634027"/>
            <a:chOff x="0" y="0"/>
            <a:chExt cx="6343752" cy="6178702"/>
          </a:xfrm>
        </p:grpSpPr>
        <p:sp>
          <p:nvSpPr>
            <p:cNvPr name="Freeform 21" id="21"/>
            <p:cNvSpPr/>
            <p:nvPr/>
          </p:nvSpPr>
          <p:spPr>
            <a:xfrm flipH="false" flipV="false" rot="0">
              <a:off x="0" y="0"/>
              <a:ext cx="6343777" cy="6178677"/>
            </a:xfrm>
            <a:custGeom>
              <a:avLst/>
              <a:gdLst/>
              <a:ahLst/>
              <a:cxnLst/>
              <a:rect r="r" b="b" t="t" l="l"/>
              <a:pathLst>
                <a:path h="6178677" w="6343777">
                  <a:moveTo>
                    <a:pt x="0" y="0"/>
                  </a:moveTo>
                  <a:lnTo>
                    <a:pt x="6343777" y="0"/>
                  </a:lnTo>
                  <a:lnTo>
                    <a:pt x="6343777" y="6178677"/>
                  </a:lnTo>
                  <a:lnTo>
                    <a:pt x="0" y="6178677"/>
                  </a:lnTo>
                  <a:lnTo>
                    <a:pt x="0" y="0"/>
                  </a:lnTo>
                  <a:close/>
                </a:path>
              </a:pathLst>
            </a:custGeom>
            <a:blipFill>
              <a:blip r:embed="rId6"/>
              <a:stretch>
                <a:fillRect l="-42" t="0" r="-41" b="0"/>
              </a:stretch>
            </a:blipFill>
          </p:spPr>
        </p:sp>
      </p:grpSp>
      <p:grpSp>
        <p:nvGrpSpPr>
          <p:cNvPr name="Group 22" id="22"/>
          <p:cNvGrpSpPr/>
          <p:nvPr/>
        </p:nvGrpSpPr>
        <p:grpSpPr>
          <a:xfrm rot="2700000">
            <a:off x="-708174" y="-1490081"/>
            <a:ext cx="1568015" cy="3957142"/>
            <a:chOff x="0" y="0"/>
            <a:chExt cx="2090687" cy="5276190"/>
          </a:xfrm>
        </p:grpSpPr>
        <p:sp>
          <p:nvSpPr>
            <p:cNvPr name="Freeform 23" id="23"/>
            <p:cNvSpPr/>
            <p:nvPr/>
          </p:nvSpPr>
          <p:spPr>
            <a:xfrm flipH="true" flipV="false" rot="0">
              <a:off x="0" y="0"/>
              <a:ext cx="2090674" cy="5276215"/>
            </a:xfrm>
            <a:custGeom>
              <a:avLst/>
              <a:gdLst/>
              <a:ahLst/>
              <a:cxnLst/>
              <a:rect r="r" b="b" t="t" l="l"/>
              <a:pathLst>
                <a:path h="5276215" w="2090674">
                  <a:moveTo>
                    <a:pt x="2090674" y="0"/>
                  </a:moveTo>
                  <a:lnTo>
                    <a:pt x="0" y="0"/>
                  </a:lnTo>
                  <a:lnTo>
                    <a:pt x="0" y="5276215"/>
                  </a:lnTo>
                  <a:lnTo>
                    <a:pt x="2090674" y="5276215"/>
                  </a:lnTo>
                  <a:lnTo>
                    <a:pt x="2090674" y="0"/>
                  </a:lnTo>
                  <a:close/>
                </a:path>
              </a:pathLst>
            </a:custGeom>
            <a:blipFill>
              <a:blip r:embed="rId7"/>
              <a:stretch>
                <a:fillRect l="-29" t="0" r="-29" b="0"/>
              </a:stretch>
            </a:blipFill>
          </p:spPr>
        </p:sp>
      </p:grpSp>
      <p:grpSp>
        <p:nvGrpSpPr>
          <p:cNvPr name="Group 24" id="24"/>
          <p:cNvGrpSpPr/>
          <p:nvPr/>
        </p:nvGrpSpPr>
        <p:grpSpPr>
          <a:xfrm rot="0">
            <a:off x="-208531" y="8302285"/>
            <a:ext cx="3189446" cy="7187489"/>
            <a:chOff x="0" y="0"/>
            <a:chExt cx="4252595" cy="9583318"/>
          </a:xfrm>
        </p:grpSpPr>
        <p:sp>
          <p:nvSpPr>
            <p:cNvPr name="Freeform 25" id="25"/>
            <p:cNvSpPr/>
            <p:nvPr/>
          </p:nvSpPr>
          <p:spPr>
            <a:xfrm flipH="false" flipV="false" rot="0">
              <a:off x="0" y="0"/>
              <a:ext cx="4252595" cy="9583293"/>
            </a:xfrm>
            <a:custGeom>
              <a:avLst/>
              <a:gdLst/>
              <a:ahLst/>
              <a:cxnLst/>
              <a:rect r="r" b="b" t="t" l="l"/>
              <a:pathLst>
                <a:path h="9583293" w="4252595">
                  <a:moveTo>
                    <a:pt x="0" y="0"/>
                  </a:moveTo>
                  <a:lnTo>
                    <a:pt x="4252595" y="0"/>
                  </a:lnTo>
                  <a:lnTo>
                    <a:pt x="4252595" y="9583293"/>
                  </a:lnTo>
                  <a:lnTo>
                    <a:pt x="0" y="9583293"/>
                  </a:lnTo>
                  <a:lnTo>
                    <a:pt x="0" y="0"/>
                  </a:lnTo>
                  <a:close/>
                </a:path>
              </a:pathLst>
            </a:custGeom>
            <a:blipFill>
              <a:blip r:embed="rId8"/>
              <a:stretch>
                <a:fillRect l="-114" t="0" r="-114" b="0"/>
              </a:stretch>
            </a:blipFill>
          </p:spPr>
        </p:sp>
      </p:grpSp>
      <p:sp>
        <p:nvSpPr>
          <p:cNvPr name="TextBox 26" id="26"/>
          <p:cNvSpPr txBox="true"/>
          <p:nvPr/>
        </p:nvSpPr>
        <p:spPr>
          <a:xfrm rot="0">
            <a:off x="5662155" y="138579"/>
            <a:ext cx="7033022" cy="1485252"/>
          </a:xfrm>
          <a:prstGeom prst="rect">
            <a:avLst/>
          </a:prstGeom>
        </p:spPr>
        <p:txBody>
          <a:bodyPr anchor="t" rtlCol="false" tIns="0" lIns="0" bIns="0" rIns="0">
            <a:spAutoFit/>
          </a:bodyPr>
          <a:lstStyle/>
          <a:p>
            <a:pPr algn="ctr">
              <a:lnSpc>
                <a:spcPts val="11059"/>
              </a:lnSpc>
            </a:pPr>
            <a:r>
              <a:rPr lang="en-US" sz="7899" b="true">
                <a:solidFill>
                  <a:srgbClr val="000000"/>
                </a:solidFill>
                <a:latin typeface="Canva Sans 1 Bold"/>
                <a:ea typeface="Canva Sans 1 Bold"/>
                <a:cs typeface="Canva Sans 1 Bold"/>
                <a:sym typeface="Canva Sans 1 Bold"/>
              </a:rPr>
              <a:t>CONCLUSION </a:t>
            </a:r>
          </a:p>
        </p:txBody>
      </p:sp>
      <p:sp>
        <p:nvSpPr>
          <p:cNvPr name="TextBox 27" id="27"/>
          <p:cNvSpPr txBox="true"/>
          <p:nvPr/>
        </p:nvSpPr>
        <p:spPr>
          <a:xfrm rot="0">
            <a:off x="254337" y="1647320"/>
            <a:ext cx="17779327" cy="2476500"/>
          </a:xfrm>
          <a:prstGeom prst="rect">
            <a:avLst/>
          </a:prstGeom>
        </p:spPr>
        <p:txBody>
          <a:bodyPr anchor="t" rtlCol="false" tIns="0" lIns="0" bIns="0" rIns="0">
            <a:spAutoFit/>
          </a:bodyPr>
          <a:lstStyle/>
          <a:p>
            <a:pPr algn="ctr">
              <a:lnSpc>
                <a:spcPts val="6299"/>
              </a:lnSpc>
            </a:pPr>
            <a:r>
              <a:rPr lang="en-US" sz="4500">
                <a:solidFill>
                  <a:srgbClr val="AF0505"/>
                </a:solidFill>
                <a:latin typeface="Kingred Modern"/>
                <a:ea typeface="Kingred Modern"/>
                <a:cs typeface="Kingred Modern"/>
                <a:sym typeface="Kingred Modern"/>
              </a:rPr>
              <a:t>we don`t want to build a machine that understands emotions we want to build a whole system that helps and heals patient and make them feel understood.</a:t>
            </a:r>
          </a:p>
        </p:txBody>
      </p:sp>
      <p:sp>
        <p:nvSpPr>
          <p:cNvPr name="TextBox 28" id="28"/>
          <p:cNvSpPr txBox="true"/>
          <p:nvPr/>
        </p:nvSpPr>
        <p:spPr>
          <a:xfrm rot="0">
            <a:off x="34671" y="4295775"/>
            <a:ext cx="18288000" cy="4279897"/>
          </a:xfrm>
          <a:prstGeom prst="rect">
            <a:avLst/>
          </a:prstGeom>
        </p:spPr>
        <p:txBody>
          <a:bodyPr anchor="t" rtlCol="false" tIns="0" lIns="0" bIns="0" rIns="0">
            <a:spAutoFit/>
          </a:bodyPr>
          <a:lstStyle/>
          <a:p>
            <a:pPr algn="ctr">
              <a:lnSpc>
                <a:spcPts val="5598"/>
              </a:lnSpc>
            </a:pPr>
            <a:r>
              <a:rPr lang="en-US" sz="3999">
                <a:solidFill>
                  <a:srgbClr val="000000"/>
                </a:solidFill>
                <a:latin typeface="Canva Sans 1"/>
                <a:ea typeface="Canva Sans 1"/>
                <a:cs typeface="Canva Sans 1"/>
                <a:sym typeface="Canva Sans 1"/>
              </a:rPr>
              <a:t>The bestest part of the project is that it involves both the AI and human interaction as, everyone says that AI will replace counsellors but acc. to me it will never replace it, but yes definitely it`ll help psychologists or counsellors to the detect the condition of patient on the early stage, so that they can help them to avoid worsening their condition, also it saves the time for the counsellors as well as to the patients.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grpSp>
        <p:nvGrpSpPr>
          <p:cNvPr name="Group 4" id="4"/>
          <p:cNvGrpSpPr/>
          <p:nvPr/>
        </p:nvGrpSpPr>
        <p:grpSpPr>
          <a:xfrm rot="-5400000">
            <a:off x="12802905" y="9019222"/>
            <a:ext cx="3465424" cy="3943588"/>
            <a:chOff x="0" y="0"/>
            <a:chExt cx="4620565" cy="5258118"/>
          </a:xfrm>
        </p:grpSpPr>
        <p:sp>
          <p:nvSpPr>
            <p:cNvPr name="Freeform 5" id="5"/>
            <p:cNvSpPr/>
            <p:nvPr/>
          </p:nvSpPr>
          <p:spPr>
            <a:xfrm flipH="false" flipV="false" rot="0">
              <a:off x="0" y="0"/>
              <a:ext cx="4620514" cy="5258054"/>
            </a:xfrm>
            <a:custGeom>
              <a:avLst/>
              <a:gdLst/>
              <a:ahLst/>
              <a:cxnLst/>
              <a:rect r="r" b="b" t="t" l="l"/>
              <a:pathLst>
                <a:path h="5258054" w="4620514">
                  <a:moveTo>
                    <a:pt x="0" y="0"/>
                  </a:moveTo>
                  <a:lnTo>
                    <a:pt x="4620514" y="0"/>
                  </a:lnTo>
                  <a:lnTo>
                    <a:pt x="4620514" y="5258054"/>
                  </a:lnTo>
                  <a:lnTo>
                    <a:pt x="0" y="5258054"/>
                  </a:lnTo>
                  <a:lnTo>
                    <a:pt x="0" y="0"/>
                  </a:lnTo>
                  <a:close/>
                </a:path>
              </a:pathLst>
            </a:custGeom>
            <a:blipFill>
              <a:blip r:embed="rId3"/>
              <a:stretch>
                <a:fillRect l="-25" t="0" r="-26" b="-1"/>
              </a:stretch>
            </a:blipFill>
          </p:spPr>
        </p:sp>
      </p:grpSp>
      <p:grpSp>
        <p:nvGrpSpPr>
          <p:cNvPr name="Group 6" id="6"/>
          <p:cNvGrpSpPr/>
          <p:nvPr/>
        </p:nvGrpSpPr>
        <p:grpSpPr>
          <a:xfrm rot="0">
            <a:off x="15563879" y="8045748"/>
            <a:ext cx="3390833" cy="3132287"/>
            <a:chOff x="0" y="0"/>
            <a:chExt cx="4521111" cy="4176382"/>
          </a:xfrm>
        </p:grpSpPr>
        <p:sp>
          <p:nvSpPr>
            <p:cNvPr name="Freeform 7" id="7"/>
            <p:cNvSpPr/>
            <p:nvPr/>
          </p:nvSpPr>
          <p:spPr>
            <a:xfrm flipH="false" flipV="false" rot="0">
              <a:off x="0" y="0"/>
              <a:ext cx="4521073" cy="4176395"/>
            </a:xfrm>
            <a:custGeom>
              <a:avLst/>
              <a:gdLst/>
              <a:ahLst/>
              <a:cxnLst/>
              <a:rect r="r" b="b" t="t" l="l"/>
              <a:pathLst>
                <a:path h="4176395" w="4521073">
                  <a:moveTo>
                    <a:pt x="0" y="0"/>
                  </a:moveTo>
                  <a:lnTo>
                    <a:pt x="4521073" y="0"/>
                  </a:lnTo>
                  <a:lnTo>
                    <a:pt x="4521073" y="4176395"/>
                  </a:lnTo>
                  <a:lnTo>
                    <a:pt x="0" y="4176395"/>
                  </a:lnTo>
                  <a:lnTo>
                    <a:pt x="0" y="0"/>
                  </a:lnTo>
                  <a:close/>
                </a:path>
              </a:pathLst>
            </a:custGeom>
            <a:blipFill>
              <a:blip r:embed="rId4"/>
              <a:stretch>
                <a:fillRect l="-22" t="0" r="-23" b="0"/>
              </a:stretch>
            </a:blipFill>
          </p:spPr>
        </p:sp>
      </p:grpSp>
      <p:grpSp>
        <p:nvGrpSpPr>
          <p:cNvPr name="Group 8" id="8"/>
          <p:cNvGrpSpPr/>
          <p:nvPr/>
        </p:nvGrpSpPr>
        <p:grpSpPr>
          <a:xfrm rot="735120">
            <a:off x="17012793" y="5558495"/>
            <a:ext cx="2550424" cy="2355952"/>
            <a:chOff x="0" y="0"/>
            <a:chExt cx="3400565" cy="3141269"/>
          </a:xfrm>
        </p:grpSpPr>
        <p:sp>
          <p:nvSpPr>
            <p:cNvPr name="Freeform 9" id="9"/>
            <p:cNvSpPr/>
            <p:nvPr/>
          </p:nvSpPr>
          <p:spPr>
            <a:xfrm flipH="false" flipV="false" rot="0">
              <a:off x="0" y="0"/>
              <a:ext cx="3400552" cy="3141218"/>
            </a:xfrm>
            <a:custGeom>
              <a:avLst/>
              <a:gdLst/>
              <a:ahLst/>
              <a:cxnLst/>
              <a:rect r="r" b="b" t="t" l="l"/>
              <a:pathLst>
                <a:path h="3141218" w="3400552">
                  <a:moveTo>
                    <a:pt x="0" y="0"/>
                  </a:moveTo>
                  <a:lnTo>
                    <a:pt x="3400552" y="0"/>
                  </a:lnTo>
                  <a:lnTo>
                    <a:pt x="3400552" y="3141218"/>
                  </a:lnTo>
                  <a:lnTo>
                    <a:pt x="0" y="3141218"/>
                  </a:lnTo>
                  <a:lnTo>
                    <a:pt x="0" y="0"/>
                  </a:lnTo>
                  <a:close/>
                </a:path>
              </a:pathLst>
            </a:custGeom>
            <a:blipFill>
              <a:blip r:embed="rId4"/>
              <a:stretch>
                <a:fillRect l="-22" t="0" r="-23" b="-1"/>
              </a:stretch>
            </a:blipFill>
          </p:spPr>
        </p:sp>
      </p:grpSp>
      <p:grpSp>
        <p:nvGrpSpPr>
          <p:cNvPr name="Group 10" id="10"/>
          <p:cNvGrpSpPr/>
          <p:nvPr/>
        </p:nvGrpSpPr>
        <p:grpSpPr>
          <a:xfrm rot="3880920">
            <a:off x="-859660" y="693801"/>
            <a:ext cx="3227251" cy="4927102"/>
            <a:chOff x="0" y="0"/>
            <a:chExt cx="4303001" cy="6569469"/>
          </a:xfrm>
        </p:grpSpPr>
        <p:sp>
          <p:nvSpPr>
            <p:cNvPr name="Freeform 11" id="11"/>
            <p:cNvSpPr/>
            <p:nvPr/>
          </p:nvSpPr>
          <p:spPr>
            <a:xfrm flipH="true" flipV="false" rot="0">
              <a:off x="0" y="0"/>
              <a:ext cx="4303014" cy="6569456"/>
            </a:xfrm>
            <a:custGeom>
              <a:avLst/>
              <a:gdLst/>
              <a:ahLst/>
              <a:cxnLst/>
              <a:rect r="r" b="b" t="t" l="l"/>
              <a:pathLst>
                <a:path h="6569456" w="4303014">
                  <a:moveTo>
                    <a:pt x="4303014" y="0"/>
                  </a:moveTo>
                  <a:lnTo>
                    <a:pt x="0" y="0"/>
                  </a:lnTo>
                  <a:lnTo>
                    <a:pt x="0" y="6569456"/>
                  </a:lnTo>
                  <a:lnTo>
                    <a:pt x="4303014" y="6569456"/>
                  </a:lnTo>
                  <a:lnTo>
                    <a:pt x="4303014" y="0"/>
                  </a:lnTo>
                  <a:close/>
                </a:path>
              </a:pathLst>
            </a:custGeom>
            <a:blipFill>
              <a:blip r:embed="rId5"/>
              <a:stretch>
                <a:fillRect l="0" t="-25" r="0" b="-25"/>
              </a:stretch>
            </a:blipFill>
          </p:spPr>
        </p:sp>
      </p:grpSp>
      <p:grpSp>
        <p:nvGrpSpPr>
          <p:cNvPr name="Group 12" id="12"/>
          <p:cNvGrpSpPr/>
          <p:nvPr/>
        </p:nvGrpSpPr>
        <p:grpSpPr>
          <a:xfrm rot="2700000">
            <a:off x="-367503" y="-2305345"/>
            <a:ext cx="1826990" cy="4610691"/>
            <a:chOff x="0" y="0"/>
            <a:chExt cx="2435987" cy="6147587"/>
          </a:xfrm>
        </p:grpSpPr>
        <p:sp>
          <p:nvSpPr>
            <p:cNvPr name="Freeform 13" id="13"/>
            <p:cNvSpPr/>
            <p:nvPr/>
          </p:nvSpPr>
          <p:spPr>
            <a:xfrm flipH="true" flipV="false" rot="0">
              <a:off x="0" y="0"/>
              <a:ext cx="2435987" cy="6147562"/>
            </a:xfrm>
            <a:custGeom>
              <a:avLst/>
              <a:gdLst/>
              <a:ahLst/>
              <a:cxnLst/>
              <a:rect r="r" b="b" t="t" l="l"/>
              <a:pathLst>
                <a:path h="6147562" w="2435987">
                  <a:moveTo>
                    <a:pt x="2435987" y="0"/>
                  </a:moveTo>
                  <a:lnTo>
                    <a:pt x="0" y="0"/>
                  </a:lnTo>
                  <a:lnTo>
                    <a:pt x="0" y="6147562"/>
                  </a:lnTo>
                  <a:lnTo>
                    <a:pt x="2435987" y="6147562"/>
                  </a:lnTo>
                  <a:lnTo>
                    <a:pt x="2435987" y="0"/>
                  </a:lnTo>
                  <a:close/>
                </a:path>
              </a:pathLst>
            </a:custGeom>
            <a:blipFill>
              <a:blip r:embed="rId6"/>
              <a:stretch>
                <a:fillRect l="-29" t="0" r="-29" b="0"/>
              </a:stretch>
            </a:blipFill>
          </p:spPr>
        </p:sp>
      </p:grpSp>
      <p:grpSp>
        <p:nvGrpSpPr>
          <p:cNvPr name="Group 14" id="14"/>
          <p:cNvGrpSpPr/>
          <p:nvPr/>
        </p:nvGrpSpPr>
        <p:grpSpPr>
          <a:xfrm rot="8862360">
            <a:off x="2042303" y="-3686442"/>
            <a:ext cx="5543598" cy="5399370"/>
            <a:chOff x="0" y="0"/>
            <a:chExt cx="7391464" cy="7199160"/>
          </a:xfrm>
        </p:grpSpPr>
        <p:sp>
          <p:nvSpPr>
            <p:cNvPr name="Freeform 15" id="15"/>
            <p:cNvSpPr/>
            <p:nvPr/>
          </p:nvSpPr>
          <p:spPr>
            <a:xfrm flipH="false" flipV="false" rot="0">
              <a:off x="0" y="0"/>
              <a:ext cx="7391527" cy="7199122"/>
            </a:xfrm>
            <a:custGeom>
              <a:avLst/>
              <a:gdLst/>
              <a:ahLst/>
              <a:cxnLst/>
              <a:rect r="r" b="b" t="t" l="l"/>
              <a:pathLst>
                <a:path h="7199122" w="7391527">
                  <a:moveTo>
                    <a:pt x="0" y="0"/>
                  </a:moveTo>
                  <a:lnTo>
                    <a:pt x="7391527" y="0"/>
                  </a:lnTo>
                  <a:lnTo>
                    <a:pt x="7391527" y="7199122"/>
                  </a:lnTo>
                  <a:lnTo>
                    <a:pt x="0" y="7199122"/>
                  </a:lnTo>
                  <a:lnTo>
                    <a:pt x="0" y="0"/>
                  </a:lnTo>
                  <a:close/>
                </a:path>
              </a:pathLst>
            </a:custGeom>
            <a:blipFill>
              <a:blip r:embed="rId7"/>
              <a:stretch>
                <a:fillRect l="-42" t="0" r="-41" b="0"/>
              </a:stretch>
            </a:blipFill>
          </p:spPr>
        </p:sp>
      </p:grpSp>
      <p:grpSp>
        <p:nvGrpSpPr>
          <p:cNvPr name="Group 16" id="16"/>
          <p:cNvGrpSpPr/>
          <p:nvPr/>
        </p:nvGrpSpPr>
        <p:grpSpPr>
          <a:xfrm rot="0">
            <a:off x="11233909" y="-4481198"/>
            <a:ext cx="8550231" cy="8229600"/>
            <a:chOff x="0" y="0"/>
            <a:chExt cx="11400307" cy="10972800"/>
          </a:xfrm>
        </p:grpSpPr>
        <p:sp>
          <p:nvSpPr>
            <p:cNvPr name="Freeform 17" id="17"/>
            <p:cNvSpPr/>
            <p:nvPr/>
          </p:nvSpPr>
          <p:spPr>
            <a:xfrm flipH="false" flipV="false" rot="0">
              <a:off x="0" y="0"/>
              <a:ext cx="11400282" cy="10972800"/>
            </a:xfrm>
            <a:custGeom>
              <a:avLst/>
              <a:gdLst/>
              <a:ahLst/>
              <a:cxnLst/>
              <a:rect r="r" b="b" t="t" l="l"/>
              <a:pathLst>
                <a:path h="10972800" w="11400282">
                  <a:moveTo>
                    <a:pt x="0" y="0"/>
                  </a:moveTo>
                  <a:lnTo>
                    <a:pt x="11400282" y="0"/>
                  </a:lnTo>
                  <a:lnTo>
                    <a:pt x="11400282" y="10972800"/>
                  </a:lnTo>
                  <a:lnTo>
                    <a:pt x="0" y="10972800"/>
                  </a:lnTo>
                  <a:lnTo>
                    <a:pt x="0" y="0"/>
                  </a:lnTo>
                  <a:close/>
                </a:path>
              </a:pathLst>
            </a:custGeom>
            <a:blipFill>
              <a:blip r:embed="rId8"/>
              <a:stretch>
                <a:fillRect l="0" t="-18" r="0" b="-18"/>
              </a:stretch>
            </a:blipFill>
          </p:spPr>
        </p:sp>
      </p:grpSp>
      <p:grpSp>
        <p:nvGrpSpPr>
          <p:cNvPr name="Group 18" id="18"/>
          <p:cNvGrpSpPr/>
          <p:nvPr/>
        </p:nvGrpSpPr>
        <p:grpSpPr>
          <a:xfrm rot="0">
            <a:off x="-3054725" y="7063235"/>
            <a:ext cx="8550231" cy="8229600"/>
            <a:chOff x="0" y="0"/>
            <a:chExt cx="11400307" cy="10972800"/>
          </a:xfrm>
        </p:grpSpPr>
        <p:sp>
          <p:nvSpPr>
            <p:cNvPr name="Freeform 19" id="19"/>
            <p:cNvSpPr/>
            <p:nvPr/>
          </p:nvSpPr>
          <p:spPr>
            <a:xfrm flipH="false" flipV="false" rot="0">
              <a:off x="0" y="0"/>
              <a:ext cx="11400282" cy="10972800"/>
            </a:xfrm>
            <a:custGeom>
              <a:avLst/>
              <a:gdLst/>
              <a:ahLst/>
              <a:cxnLst/>
              <a:rect r="r" b="b" t="t" l="l"/>
              <a:pathLst>
                <a:path h="10972800" w="11400282">
                  <a:moveTo>
                    <a:pt x="0" y="0"/>
                  </a:moveTo>
                  <a:lnTo>
                    <a:pt x="11400282" y="0"/>
                  </a:lnTo>
                  <a:lnTo>
                    <a:pt x="11400282" y="10972800"/>
                  </a:lnTo>
                  <a:lnTo>
                    <a:pt x="0" y="10972800"/>
                  </a:lnTo>
                  <a:lnTo>
                    <a:pt x="0" y="0"/>
                  </a:lnTo>
                  <a:close/>
                </a:path>
              </a:pathLst>
            </a:custGeom>
            <a:blipFill>
              <a:blip r:embed="rId8"/>
              <a:stretch>
                <a:fillRect l="0" t="-18" r="0" b="-18"/>
              </a:stretch>
            </a:blipFill>
          </p:spPr>
        </p:sp>
      </p:grpSp>
      <p:grpSp>
        <p:nvGrpSpPr>
          <p:cNvPr name="Group 20" id="20"/>
          <p:cNvGrpSpPr/>
          <p:nvPr/>
        </p:nvGrpSpPr>
        <p:grpSpPr>
          <a:xfrm rot="0">
            <a:off x="-256765" y="7383999"/>
            <a:ext cx="3651885" cy="8229600"/>
            <a:chOff x="0" y="0"/>
            <a:chExt cx="4869180" cy="10972800"/>
          </a:xfrm>
        </p:grpSpPr>
        <p:sp>
          <p:nvSpPr>
            <p:cNvPr name="Freeform 21" id="21"/>
            <p:cNvSpPr/>
            <p:nvPr/>
          </p:nvSpPr>
          <p:spPr>
            <a:xfrm flipH="false" flipV="false" rot="0">
              <a:off x="0" y="0"/>
              <a:ext cx="4869180" cy="10972800"/>
            </a:xfrm>
            <a:custGeom>
              <a:avLst/>
              <a:gdLst/>
              <a:ahLst/>
              <a:cxnLst/>
              <a:rect r="r" b="b" t="t" l="l"/>
              <a:pathLst>
                <a:path h="10972800" w="4869180">
                  <a:moveTo>
                    <a:pt x="0" y="0"/>
                  </a:moveTo>
                  <a:lnTo>
                    <a:pt x="4869180" y="0"/>
                  </a:lnTo>
                  <a:lnTo>
                    <a:pt x="4869180" y="10972800"/>
                  </a:lnTo>
                  <a:lnTo>
                    <a:pt x="0" y="10972800"/>
                  </a:lnTo>
                  <a:lnTo>
                    <a:pt x="0" y="0"/>
                  </a:lnTo>
                  <a:close/>
                </a:path>
              </a:pathLst>
            </a:custGeom>
            <a:blipFill>
              <a:blip r:embed="rId9"/>
              <a:stretch>
                <a:fillRect l="-113" t="0" r="-113" b="0"/>
              </a:stretch>
            </a:blipFill>
          </p:spPr>
        </p:sp>
      </p:grpSp>
      <p:grpSp>
        <p:nvGrpSpPr>
          <p:cNvPr name="Group 22" id="22"/>
          <p:cNvGrpSpPr/>
          <p:nvPr/>
        </p:nvGrpSpPr>
        <p:grpSpPr>
          <a:xfrm rot="0">
            <a:off x="14301626" y="-5072243"/>
            <a:ext cx="3651885" cy="8229600"/>
            <a:chOff x="0" y="0"/>
            <a:chExt cx="4869180" cy="10972800"/>
          </a:xfrm>
        </p:grpSpPr>
        <p:sp>
          <p:nvSpPr>
            <p:cNvPr name="Freeform 23" id="23"/>
            <p:cNvSpPr/>
            <p:nvPr/>
          </p:nvSpPr>
          <p:spPr>
            <a:xfrm flipH="false" flipV="true" rot="0">
              <a:off x="0" y="0"/>
              <a:ext cx="4869180" cy="10972800"/>
            </a:xfrm>
            <a:custGeom>
              <a:avLst/>
              <a:gdLst/>
              <a:ahLst/>
              <a:cxnLst/>
              <a:rect r="r" b="b" t="t" l="l"/>
              <a:pathLst>
                <a:path h="10972800" w="4869180">
                  <a:moveTo>
                    <a:pt x="0" y="10972800"/>
                  </a:moveTo>
                  <a:lnTo>
                    <a:pt x="4869180" y="10972800"/>
                  </a:lnTo>
                  <a:lnTo>
                    <a:pt x="4869180" y="0"/>
                  </a:lnTo>
                  <a:lnTo>
                    <a:pt x="0" y="0"/>
                  </a:lnTo>
                  <a:lnTo>
                    <a:pt x="0" y="10972800"/>
                  </a:lnTo>
                  <a:close/>
                </a:path>
              </a:pathLst>
            </a:custGeom>
            <a:blipFill>
              <a:blip r:embed="rId9"/>
              <a:stretch>
                <a:fillRect l="-113" t="0" r="-113" b="0"/>
              </a:stretch>
            </a:blipFill>
          </p:spPr>
        </p:sp>
      </p:grpSp>
      <p:sp>
        <p:nvSpPr>
          <p:cNvPr name="TextBox 24" id="24"/>
          <p:cNvSpPr txBox="true"/>
          <p:nvPr/>
        </p:nvSpPr>
        <p:spPr>
          <a:xfrm rot="0">
            <a:off x="2807932" y="3210211"/>
            <a:ext cx="12672136" cy="4609043"/>
          </a:xfrm>
          <a:prstGeom prst="rect">
            <a:avLst/>
          </a:prstGeom>
        </p:spPr>
        <p:txBody>
          <a:bodyPr anchor="t" rtlCol="false" tIns="0" lIns="0" bIns="0" rIns="0">
            <a:spAutoFit/>
          </a:bodyPr>
          <a:lstStyle/>
          <a:p>
            <a:pPr algn="ctr">
              <a:lnSpc>
                <a:spcPts val="18650"/>
              </a:lnSpc>
            </a:pPr>
            <a:r>
              <a:rPr lang="en-US" sz="17430">
                <a:solidFill>
                  <a:srgbClr val="6E4823"/>
                </a:solidFill>
                <a:latin typeface="Kingred Modern"/>
                <a:ea typeface="Kingred Modern"/>
                <a:cs typeface="Kingred Modern"/>
                <a:sym typeface="Kingred Moder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DAHU_RYl69I</dc:identifier>
  <dcterms:modified xsi:type="dcterms:W3CDTF">2011-08-01T06:04:30Z</dcterms:modified>
  <cp:revision>1</cp:revision>
  <dc:title>mood'o'meter_20260912_191011_0000.pptx</dc:title>
</cp:coreProperties>
</file>